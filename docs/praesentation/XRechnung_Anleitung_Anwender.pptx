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AD9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AD9260"/>
                </a:solidFill>
                <a:latin typeface="Trebuchet MS"/>
              </a:rPr>
              <a:t>ANLEITUNG FÜR DEN ALLTAG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600" b="0">
                <a:solidFill>
                  <a:srgbClr val="FFFFFF"/>
                </a:solidFill>
                <a:latin typeface="Georgia"/>
              </a:rPr>
              <a:t>XRechnung verschicken —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600" b="0">
                <a:solidFill>
                  <a:srgbClr val="FFFFFF"/>
                </a:solidFill>
                <a:latin typeface="Georgia"/>
              </a:rPr>
              <a:t>Schritt für Schritt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8620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800" b="0">
                <a:solidFill>
                  <a:srgbClr val="DDD8D0"/>
                </a:solidFill>
                <a:latin typeface="Trebuchet MS"/>
              </a:rPr>
              <a:t>Für alle, die Firmenrechnungen aus OPERA als XRechnung an Kunden schicken.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800" b="0">
                <a:solidFill>
                  <a:srgbClr val="DDD8D0"/>
                </a:solidFill>
                <a:latin typeface="Trebuchet MS"/>
              </a:rPr>
              <a:t>Ohne Technik, ohne Einstellungen — nur das, was Sie jeden Tag brauchen.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257800"/>
            <a:ext cx="822960" cy="31750"/>
          </a:xfrm>
          <a:prstGeom prst="rect">
            <a:avLst/>
          </a:prstGeom>
          <a:solidFill>
            <a:srgbClr val="AD9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4406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A8A29A"/>
                </a:solidFill>
                <a:latin typeface="Trebuchet MS"/>
              </a:rPr>
              <a:t>Stand 16.09.2026 · Alle Bildschirmfotos zeigen erfundene Musterdaten, keine echten Kunden oder Gäste.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D9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745B2F"/>
                </a:solidFill>
                <a:latin typeface="Trebuchet MS"/>
              </a:rPr>
              <a:t>EINFÜHRUNG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Georgia"/>
              </a:rPr>
              <a:t>Worum geht 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7A746C"/>
                </a:solidFill>
                <a:latin typeface="Trebuchet MS"/>
              </a:rPr>
              <a:t>XRechnung · Anleitung für den Alltag · Stand 16.09.2026 · Bilder mit Musterdaten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7A746C"/>
                </a:solidFill>
                <a:latin typeface="Trebuchet MS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08760"/>
            <a:ext cx="3423818" cy="3520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737360"/>
            <a:ext cx="457200" cy="457200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287517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900" b="0">
                <a:solidFill>
                  <a:srgbClr val="1A1A1A"/>
                </a:solidFill>
                <a:latin typeface="Georgia"/>
              </a:rPr>
              <a:t>Firmen wollen Rechnungen als Datei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287517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2A2824"/>
                </a:solidFill>
                <a:latin typeface="Trebuchet MS"/>
              </a:rPr>
              <a:t>Firmenkunden und Behörden bekommen ihre Rechnung zusätzlich als </a:t>
            </a:r>
            <a:r>
              <a:rPr sz="1400" b="1">
                <a:solidFill>
                  <a:srgbClr val="2A2824"/>
                </a:solidFill>
                <a:latin typeface="Trebuchet MS"/>
              </a:rPr>
              <a:t>XRechnung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 — eine Datei, die ihr Buchhaltungsprogramm selbst einliest. Das ist Pflicht.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3938" y="1508760"/>
            <a:ext cx="3423818" cy="3520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58258" y="1737360"/>
            <a:ext cx="457200" cy="457200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8258" y="2331720"/>
            <a:ext cx="287517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900" b="0">
                <a:solidFill>
                  <a:srgbClr val="1A1A1A"/>
                </a:solidFill>
                <a:latin typeface="Georgia"/>
              </a:rPr>
              <a:t>Das Programm erledigt die Arbeit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8258" y="3154680"/>
            <a:ext cx="287517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2A2824"/>
                </a:solidFill>
                <a:latin typeface="Trebuchet MS"/>
              </a:rPr>
              <a:t>Es holt die fertigen Rechnungen aus OPERA, baut die Datei, </a:t>
            </a:r>
            <a:r>
              <a:rPr sz="1400" b="1">
                <a:solidFill>
                  <a:srgbClr val="2A2824"/>
                </a:solidFill>
                <a:latin typeface="Trebuchet MS"/>
              </a:rPr>
              <a:t>prüft sie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 und verschickt sie per E-Mail. Sie schauen drauf und drücken auf „Versenden“.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27796" y="1508760"/>
            <a:ext cx="3423818" cy="3520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02116" y="1737360"/>
            <a:ext cx="457200" cy="457200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2116" y="2331720"/>
            <a:ext cx="287517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900" b="0">
                <a:solidFill>
                  <a:srgbClr val="1A1A1A"/>
                </a:solidFill>
                <a:latin typeface="Georgia"/>
              </a:rPr>
              <a:t>OPERA bleibt, wie es 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2116" y="3154680"/>
            <a:ext cx="287517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2A2824"/>
                </a:solidFill>
                <a:latin typeface="Trebuchet MS"/>
              </a:rPr>
              <a:t>Das Programm </a:t>
            </a:r>
            <a:r>
              <a:rPr sz="1400" b="1">
                <a:solidFill>
                  <a:srgbClr val="2A2824"/>
                </a:solidFill>
                <a:latin typeface="Trebuchet MS"/>
              </a:rPr>
              <a:t>liest nur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. Es kann in OPERA nichts ändern, verschieben oder löschen. Beträge korrigieren Sie wie immer in OPERA.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2578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B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5257800"/>
            <a:ext cx="82296" cy="914400"/>
          </a:xfrm>
          <a:prstGeom prst="rect">
            <a:avLst/>
          </a:prstGeom>
          <a:solidFill>
            <a:srgbClr val="8A4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367528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8A4B12"/>
                </a:solidFill>
                <a:latin typeface="Trebuchet MS"/>
              </a:rPr>
              <a:t>HINWEIS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5623560"/>
            <a:ext cx="105000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Die XRechnung ist </a:t>
            </a:r>
            <a:r>
              <a:rPr sz="1350" b="1">
                <a:solidFill>
                  <a:srgbClr val="2A2824"/>
                </a:solidFill>
                <a:latin typeface="Trebuchet MS"/>
              </a:rPr>
              <a:t>dieselbe Rechnung</a:t>
            </a:r>
            <a:r>
              <a:rPr sz="1350" b="0">
                <a:solidFill>
                  <a:srgbClr val="2A2824"/>
                </a:solidFill>
                <a:latin typeface="Trebuchet MS"/>
              </a:rPr>
              <a:t> wie in OPERA, nur als Datei. Es entsteht keine zweite Rechnung und keine zweite Forderung — das steht auch so in der E-Mail an den Kunden.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D9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745B2F"/>
                </a:solidFill>
                <a:latin typeface="Trebuchet MS"/>
              </a:rPr>
              <a:t>ÜBERBLICK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Georgia"/>
              </a:rPr>
              <a:t>Ihr Weg in sechs Schritten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7A746C"/>
                </a:solidFill>
                <a:latin typeface="Trebuchet MS"/>
              </a:rPr>
              <a:t>XRechnung · Anleitung für den Alltag · Stand 16.09.2026 · Bilder mit Musterdaten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7A746C"/>
                </a:solidFill>
                <a:latin typeface="Trebuchet MS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37360"/>
            <a:ext cx="1628089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D9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9804" y="1920240"/>
            <a:ext cx="548640" cy="548640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606040"/>
            <a:ext cx="148178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1A1A1A"/>
                </a:solidFill>
                <a:latin typeface="Trebuchet MS"/>
              </a:rPr>
              <a:t>Anmelden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246120"/>
            <a:ext cx="148178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7A746C"/>
                </a:solidFill>
                <a:latin typeface="Trebuchet MS"/>
              </a:rPr>
              <a:t>im Browser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295601" y="2651760"/>
            <a:ext cx="173736" cy="274320"/>
          </a:xfrm>
          <a:prstGeom prst="rightArrow">
            <a:avLst/>
          </a:prstGeom>
          <a:solidFill>
            <a:srgbClr val="AD92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96769" y="1737360"/>
            <a:ext cx="1628089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D9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036493" y="1920240"/>
            <a:ext cx="548640" cy="548640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9921" y="2606040"/>
            <a:ext cx="148178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1A1A1A"/>
                </a:solidFill>
                <a:latin typeface="Trebuchet MS"/>
              </a:rPr>
              <a:t>Liste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9921" y="3246120"/>
            <a:ext cx="148178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7A746C"/>
                </a:solidFill>
                <a:latin typeface="Trebuchet MS"/>
              </a:rPr>
              <a:t>Was ist neu?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52290" y="2651760"/>
            <a:ext cx="173736" cy="274320"/>
          </a:xfrm>
          <a:prstGeom prst="rightArrow">
            <a:avLst/>
          </a:prstGeom>
          <a:solidFill>
            <a:srgbClr val="AD92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53458" y="1737360"/>
            <a:ext cx="1628089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D9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93182" y="1920240"/>
            <a:ext cx="548640" cy="548640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6610" y="2606040"/>
            <a:ext cx="148178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1A1A1A"/>
                </a:solidFill>
                <a:latin typeface="Trebuchet MS"/>
              </a:rPr>
              <a:t>Öffnen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6610" y="3246120"/>
            <a:ext cx="148178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7A746C"/>
                </a:solidFill>
                <a:latin typeface="Trebuchet MS"/>
              </a:rPr>
              <a:t>Klick auf die Nummer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008979" y="2651760"/>
            <a:ext cx="173736" cy="274320"/>
          </a:xfrm>
          <a:prstGeom prst="rightArrow">
            <a:avLst/>
          </a:prstGeom>
          <a:solidFill>
            <a:srgbClr val="AD92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10147" y="1737360"/>
            <a:ext cx="1628089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D9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749872" y="1920240"/>
            <a:ext cx="548640" cy="548640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3299" y="2606040"/>
            <a:ext cx="148178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1A1A1A"/>
                </a:solidFill>
                <a:latin typeface="Trebuchet MS"/>
              </a:rPr>
              <a:t>Empfänger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83299" y="3246120"/>
            <a:ext cx="148178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7A746C"/>
                </a:solidFill>
                <a:latin typeface="Trebuchet MS"/>
              </a:rPr>
              <a:t>stimmt die Adresse?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865668" y="2651760"/>
            <a:ext cx="173736" cy="274320"/>
          </a:xfrm>
          <a:prstGeom prst="rightArrow">
            <a:avLst/>
          </a:prstGeom>
          <a:solidFill>
            <a:srgbClr val="AD92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66836" y="1737360"/>
            <a:ext cx="1628089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D9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06561" y="1920240"/>
            <a:ext cx="548640" cy="548640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9988" y="2606040"/>
            <a:ext cx="148178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1A1A1A"/>
                </a:solidFill>
                <a:latin typeface="Trebuchet MS"/>
              </a:rPr>
              <a:t>Prüfen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9988" y="3246120"/>
            <a:ext cx="148178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7A746C"/>
                </a:solidFill>
                <a:latin typeface="Trebuchet MS"/>
              </a:rPr>
              <a:t>„XML erzeugen“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722357" y="2651760"/>
            <a:ext cx="173736" cy="274320"/>
          </a:xfrm>
          <a:prstGeom prst="rightArrow">
            <a:avLst/>
          </a:prstGeom>
          <a:solidFill>
            <a:srgbClr val="AD92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923525" y="1737360"/>
            <a:ext cx="1628089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D9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463250" y="1920240"/>
            <a:ext cx="548640" cy="548640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96677" y="2606040"/>
            <a:ext cx="148178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1A1A1A"/>
                </a:solidFill>
                <a:latin typeface="Trebuchet MS"/>
              </a:rPr>
              <a:t>Versenden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96677" y="3246120"/>
            <a:ext cx="148178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7A746C"/>
                </a:solidFill>
                <a:latin typeface="Trebuchet MS"/>
              </a:rPr>
              <a:t>„Jetzt versenden“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41148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2A2824"/>
                </a:solidFill>
                <a:latin typeface="Trebuchet MS"/>
              </a:rPr>
              <a:t>Die meisten Rechnungen sind in einer Minute erledigt. Die Folien danach erklären jeden Schritt und die Sonderfälle.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" y="4754880"/>
            <a:ext cx="5303520" cy="914400"/>
          </a:xfrm>
          <a:prstGeom prst="roundRect">
            <a:avLst>
              <a:gd name="adj" fmla="val 8000"/>
            </a:avLst>
          </a:prstGeom>
          <a:solidFill>
            <a:srgbClr val="E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" y="4754880"/>
            <a:ext cx="82296" cy="914400"/>
          </a:xfrm>
          <a:prstGeom prst="rect">
            <a:avLst/>
          </a:prstGeom>
          <a:solidFill>
            <a:srgbClr val="1F5C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6112" y="48646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F5C3D"/>
                </a:solidFill>
                <a:latin typeface="Trebuchet MS"/>
              </a:rPr>
              <a:t>TIPP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" y="5120640"/>
            <a:ext cx="4892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Die </a:t>
            </a:r>
            <a:r>
              <a:rPr sz="1350" b="1">
                <a:solidFill>
                  <a:srgbClr val="2A2824"/>
                </a:solidFill>
                <a:latin typeface="Trebuchet MS"/>
              </a:rPr>
              <a:t>roten Ziffern</a:t>
            </a:r>
            <a:r>
              <a:rPr sz="1350" b="0">
                <a:solidFill>
                  <a:srgbClr val="2A2824"/>
                </a:solidFill>
                <a:latin typeface="Trebuchet MS"/>
              </a:rPr>
              <a:t> in den Bildern gehören zu den Ziffern im Text daneben.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4754880"/>
            <a:ext cx="5333695" cy="1143000"/>
          </a:xfrm>
          <a:prstGeom prst="roundRect">
            <a:avLst>
              <a:gd name="adj" fmla="val 8000"/>
            </a:avLst>
          </a:prstGeom>
          <a:solidFill>
            <a:srgbClr val="FB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17920" y="4754880"/>
            <a:ext cx="82296" cy="1143000"/>
          </a:xfrm>
          <a:prstGeom prst="rect">
            <a:avLst/>
          </a:prstGeom>
          <a:solidFill>
            <a:srgbClr val="8A4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73952" y="4864608"/>
            <a:ext cx="49679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8A4B12"/>
                </a:solidFill>
                <a:latin typeface="Trebuchet MS"/>
              </a:rPr>
              <a:t>HINWEIS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73952" y="5120640"/>
            <a:ext cx="4922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Versenden, Empfänger wählen und Zurücklegen geht nur mit der Rolle </a:t>
            </a:r>
            <a:r>
              <a:rPr sz="1350" b="1">
                <a:solidFill>
                  <a:srgbClr val="2A2824"/>
                </a:solidFill>
                <a:latin typeface="Trebuchet MS"/>
              </a:rPr>
              <a:t>„verwalten“</a:t>
            </a:r>
            <a:r>
              <a:rPr sz="1350" b="0">
                <a:solidFill>
                  <a:srgbClr val="2A2824"/>
                </a:solidFill>
                <a:latin typeface="Trebuchet MS"/>
              </a:rPr>
              <a:t>. Sehen Sie diese Knöpfe nicht, fehlt Ihnen das Recht.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D9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745B2F"/>
                </a:solidFill>
                <a:latin typeface="Trebuchet MS"/>
              </a:rPr>
              <a:t>SCHRITT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Georgia"/>
              </a:rPr>
              <a:t>Anmelden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7A746C"/>
                </a:solidFill>
                <a:latin typeface="Trebuchet MS"/>
              </a:rPr>
              <a:t>XRechnung · Anleitung für den Alltag · Stand 16.09.2026 · Bilder mit Musterdaten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7A746C"/>
                </a:solidFill>
                <a:latin typeface="Trebuchet MS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0310" y="1398270"/>
            <a:ext cx="4987076" cy="3970020"/>
          </a:xfrm>
          <a:prstGeom prst="rect">
            <a:avLst/>
          </a:prstGeom>
          <a:solidFill>
            <a:srgbClr val="D8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_anmeld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17320"/>
            <a:ext cx="4948976" cy="393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5568" y="1463040"/>
            <a:ext cx="3685032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2A2824"/>
                </a:solidFill>
                <a:latin typeface="Trebuchet MS"/>
              </a:rPr>
              <a:t>Öffnen Sie im Browser die Adresse, die Sie von der IT bekommen haben. Am besten als </a:t>
            </a:r>
            <a:r>
              <a:rPr sz="1500" b="1">
                <a:solidFill>
                  <a:srgbClr val="2A2824"/>
                </a:solidFill>
                <a:latin typeface="Trebuchet MS"/>
              </a:rPr>
              <a:t>Lesezeichen</a:t>
            </a:r>
            <a:r>
              <a:rPr sz="1500" b="0">
                <a:solidFill>
                  <a:srgbClr val="2A2824"/>
                </a:solidFill>
                <a:latin typeface="Trebuchet MS"/>
              </a:rPr>
              <a:t> speichern.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596896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615184"/>
            <a:ext cx="3685032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2A2824"/>
                </a:solidFill>
                <a:latin typeface="Trebuchet MS"/>
              </a:rPr>
              <a:t>Benutzer</a:t>
            </a:r>
            <a:r>
              <a:rPr sz="1500" b="0">
                <a:solidFill>
                  <a:srgbClr val="2A2824"/>
                </a:solidFill>
                <a:latin typeface="Trebuchet MS"/>
              </a:rPr>
              <a:t> eintragen.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008376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026664"/>
            <a:ext cx="3685032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2A2824"/>
                </a:solidFill>
                <a:latin typeface="Trebuchet MS"/>
              </a:rPr>
              <a:t>Passwort</a:t>
            </a:r>
            <a:r>
              <a:rPr sz="1500" b="0">
                <a:solidFill>
                  <a:srgbClr val="2A2824"/>
                </a:solidFill>
                <a:latin typeface="Trebuchet MS"/>
              </a:rPr>
              <a:t> eintragen.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419856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3438144"/>
            <a:ext cx="3685032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2A2824"/>
                </a:solidFill>
                <a:latin typeface="Trebuchet MS"/>
              </a:rPr>
              <a:t>Auf </a:t>
            </a:r>
            <a:r>
              <a:rPr sz="1500" b="1">
                <a:solidFill>
                  <a:srgbClr val="2A2824"/>
                </a:solidFill>
                <a:latin typeface="Trebuchet MS"/>
              </a:rPr>
              <a:t>„Anmelden“</a:t>
            </a:r>
            <a:r>
              <a:rPr sz="1500" b="0">
                <a:solidFill>
                  <a:srgbClr val="2A2824"/>
                </a:solidFill>
                <a:latin typeface="Trebuchet MS"/>
              </a:rPr>
              <a:t> klicken.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986784"/>
            <a:ext cx="4160520" cy="1600200"/>
          </a:xfrm>
          <a:prstGeom prst="roundRect">
            <a:avLst>
              <a:gd name="adj" fmla="val 8000"/>
            </a:avLst>
          </a:prstGeom>
          <a:solidFill>
            <a:srgbClr val="FB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986784"/>
            <a:ext cx="82296" cy="1600200"/>
          </a:xfrm>
          <a:prstGeom prst="rect">
            <a:avLst/>
          </a:prstGeom>
          <a:solidFill>
            <a:srgbClr val="8A4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096512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8A4B12"/>
                </a:solidFill>
                <a:latin typeface="Trebuchet MS"/>
              </a:rPr>
              <a:t>HINWEIS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4352544"/>
            <a:ext cx="3749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Nach </a:t>
            </a:r>
            <a:r>
              <a:rPr sz="1350" b="1">
                <a:solidFill>
                  <a:srgbClr val="2A2824"/>
                </a:solidFill>
                <a:latin typeface="Trebuchet MS"/>
              </a:rPr>
              <a:t>8 Stunden</a:t>
            </a:r>
            <a:r>
              <a:rPr sz="1350" b="0">
                <a:solidFill>
                  <a:srgbClr val="2A2824"/>
                </a:solidFill>
                <a:latin typeface="Trebuchet MS"/>
              </a:rPr>
              <a:t> meldet das Programm Sie ab — dann einfach neu anmelden.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Nach </a:t>
            </a:r>
            <a:r>
              <a:rPr sz="1350" b="1">
                <a:solidFill>
                  <a:srgbClr val="2A2824"/>
                </a:solidFill>
                <a:latin typeface="Trebuchet MS"/>
              </a:rPr>
              <a:t>5 falschen Passwörtern</a:t>
            </a:r>
            <a:r>
              <a:rPr sz="1350" b="0">
                <a:solidFill>
                  <a:srgbClr val="2A2824"/>
                </a:solidFill>
                <a:latin typeface="Trebuchet MS"/>
              </a:rPr>
              <a:t> ist der Zugang kurz gesperrt. Warten Sie etwas, bevor Sie es erneut versuchen.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5486400"/>
            <a:ext cx="5242255" cy="658368"/>
          </a:xfrm>
          <a:prstGeom prst="roundRect">
            <a:avLst>
              <a:gd name="adj" fmla="val 8000"/>
            </a:avLst>
          </a:prstGeom>
          <a:solidFill>
            <a:srgbClr val="E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5486400"/>
            <a:ext cx="82296" cy="658368"/>
          </a:xfrm>
          <a:prstGeom prst="rect">
            <a:avLst/>
          </a:prstGeom>
          <a:solidFill>
            <a:srgbClr val="1F5C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65392" y="5596128"/>
            <a:ext cx="48764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F5C3D"/>
                </a:solidFill>
                <a:latin typeface="Trebuchet MS"/>
              </a:rPr>
              <a:t>TIPP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65392" y="5852160"/>
            <a:ext cx="4830775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Passwort vergessen? Das kann die IT zurücksetzen.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D9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745B2F"/>
                </a:solidFill>
                <a:latin typeface="Trebuchet MS"/>
              </a:rPr>
              <a:t>SCHRITT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Georgia"/>
              </a:rPr>
              <a:t>Die Liste: alle Rechnungen auf einen Blick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7A746C"/>
                </a:solidFill>
                <a:latin typeface="Trebuchet MS"/>
              </a:rPr>
              <a:t>XRechnung · Anleitung für den Alltag · Stand 16.09.2026 · Bilder mit Musterdaten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7A746C"/>
                </a:solidFill>
                <a:latin typeface="Trebuchet MS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52950" y="1398270"/>
            <a:ext cx="7017715" cy="3527907"/>
          </a:xfrm>
          <a:prstGeom prst="rect">
            <a:avLst/>
          </a:prstGeom>
          <a:solidFill>
            <a:srgbClr val="D8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2_lis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417320"/>
            <a:ext cx="6979615" cy="3489807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40080" y="1444752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1463040"/>
            <a:ext cx="3182112" cy="460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2A2824"/>
                </a:solidFill>
                <a:latin typeface="Trebuchet MS"/>
              </a:rPr>
              <a:t>Jetzt einlesen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 holt neue Rechnungen aus OPERA.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070201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088489"/>
            <a:ext cx="3182112" cy="460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2A2824"/>
                </a:solidFill>
                <a:latin typeface="Trebuchet MS"/>
              </a:rPr>
              <a:t>Reiter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 filtern nach Status. Die Zahl zeigt, wie viele es sind.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2695650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713938"/>
            <a:ext cx="3182112" cy="460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2A2824"/>
                </a:solidFill>
                <a:latin typeface="Trebuchet MS"/>
              </a:rPr>
              <a:t>Suchen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 nach Nummer, Kunde oder E-Mail-Adresse.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3321099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3339387"/>
            <a:ext cx="3182112" cy="460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2A2824"/>
                </a:solidFill>
                <a:latin typeface="Trebuchet MS"/>
              </a:rPr>
              <a:t>Rechnungsnummer anklicken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 öffnet die Rechnung.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3946548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964836"/>
            <a:ext cx="3182112" cy="460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2A2824"/>
                </a:solidFill>
                <a:latin typeface="Trebuchet MS"/>
              </a:rPr>
              <a:t>Status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 und darunter in Rot der Grund, wenn etwas zu tun ist.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681725"/>
            <a:ext cx="3657600" cy="1117600"/>
          </a:xfrm>
          <a:prstGeom prst="roundRect">
            <a:avLst>
              <a:gd name="adj" fmla="val 8000"/>
            </a:avLst>
          </a:prstGeom>
          <a:solidFill>
            <a:srgbClr val="E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681725"/>
            <a:ext cx="82296" cy="1117600"/>
          </a:xfrm>
          <a:prstGeom prst="rect">
            <a:avLst/>
          </a:prstGeom>
          <a:solidFill>
            <a:srgbClr val="1F5C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4791453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F5C3D"/>
                </a:solidFill>
                <a:latin typeface="Trebuchet MS"/>
              </a:rPr>
              <a:t>TIPP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5047485"/>
            <a:ext cx="3246120" cy="706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0">
                <a:solidFill>
                  <a:srgbClr val="2A2824"/>
                </a:solidFill>
                <a:latin typeface="Trebuchet MS"/>
              </a:rPr>
              <a:t>Auf eine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Spaltenüberschrift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 klicken sortiert. Noch einmal klicken dreht die Reihenfolge um.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D9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745B2F"/>
                </a:solidFill>
                <a:latin typeface="Trebuchet MS"/>
              </a:rPr>
              <a:t>SCHRITT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Georgia"/>
              </a:rPr>
              <a:t>Was bedeutet der Status — und was tue ich?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7A746C"/>
                </a:solidFill>
                <a:latin typeface="Trebuchet MS"/>
              </a:rPr>
              <a:t>XRechnung · Anleitung für den Alltag · Stand 16.09.2026 · Bilder mit Musterdaten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7A746C"/>
                </a:solidFill>
                <a:latin typeface="Trebuchet MS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08760"/>
            <a:ext cx="10911535" cy="3840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002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F6F4F0"/>
                </a:solidFill>
                <a:latin typeface="Trebuchet MS"/>
              </a:rPr>
              <a:t>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6002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F6F4F0"/>
                </a:solidFill>
                <a:latin typeface="Trebuchet MS"/>
              </a:rPr>
              <a:t>DAS HEISST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6002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F6F4F0"/>
                </a:solidFill>
                <a:latin typeface="Trebuchet MS"/>
              </a:rPr>
              <a:t>DAS TUN SIE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892808"/>
            <a:ext cx="10911535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2002536"/>
            <a:ext cx="1417320" cy="329184"/>
          </a:xfrm>
          <a:prstGeom prst="roundRect">
            <a:avLst>
              <a:gd name="adj" fmla="val 8000"/>
            </a:avLst>
          </a:prstGeom>
          <a:solidFill>
            <a:srgbClr val="EE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A2824"/>
                </a:solidFill>
                <a:latin typeface="Trebuchet MS"/>
              </a:rPr>
              <a:t>Neu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196596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Gerade eingelesen, noch nichts entschieden.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196596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Öffnen, Empfänger prüfen, versenden.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441448"/>
            <a:ext cx="10911535" cy="548640"/>
          </a:xfrm>
          <a:prstGeom prst="rect">
            <a:avLst/>
          </a:prstGeom>
          <a:solidFill>
            <a:srgbClr val="EE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" y="2551176"/>
            <a:ext cx="1417320" cy="329184"/>
          </a:xfrm>
          <a:prstGeom prst="roundRect">
            <a:avLst>
              <a:gd name="adj" fmla="val 8000"/>
            </a:avLst>
          </a:prstGeom>
          <a:solidFill>
            <a:srgbClr val="FB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8A4B12"/>
                </a:solidFill>
                <a:latin typeface="Trebuchet MS"/>
              </a:rPr>
              <a:t>Prüfung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251460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Hier muss ein Mensch draufschauen. Der Grund steht darunter.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51460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Grund lesen, siehe Sonderfälle. Wird </a:t>
            </a:r>
            <a:r>
              <a:rPr sz="1350" b="1">
                <a:solidFill>
                  <a:srgbClr val="2A2824"/>
                </a:solidFill>
                <a:latin typeface="Trebuchet MS"/>
              </a:rPr>
              <a:t>nie</a:t>
            </a:r>
            <a:r>
              <a:rPr sz="1350" b="0">
                <a:solidFill>
                  <a:srgbClr val="2A2824"/>
                </a:solidFill>
                <a:latin typeface="Trebuchet MS"/>
              </a:rPr>
              <a:t> automatisch verschickt.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990088"/>
            <a:ext cx="10911535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" y="3099816"/>
            <a:ext cx="1417320" cy="329184"/>
          </a:xfrm>
          <a:prstGeom prst="roundRect">
            <a:avLst>
              <a:gd name="adj" fmla="val 8000"/>
            </a:avLst>
          </a:prstGeom>
          <a:solidFill>
            <a:srgbClr val="F1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745B2F"/>
                </a:solidFill>
                <a:latin typeface="Trebuchet MS"/>
              </a:rPr>
              <a:t>Bereit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30632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Empfänger ist gewählt, die Rechnung wartet auf den Versand.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06324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Prüfen und versenden — oder die Automatik abwarten.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538728"/>
            <a:ext cx="10911535" cy="548640"/>
          </a:xfrm>
          <a:prstGeom prst="rect">
            <a:avLst/>
          </a:prstGeom>
          <a:solidFill>
            <a:srgbClr val="EE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2960" y="3648456"/>
            <a:ext cx="1417320" cy="329184"/>
          </a:xfrm>
          <a:prstGeom prst="roundRect">
            <a:avLst>
              <a:gd name="adj" fmla="val 8000"/>
            </a:avLst>
          </a:prstGeom>
          <a:solidFill>
            <a:srgbClr val="E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1F5C3D"/>
                </a:solidFill>
                <a:latin typeface="Trebuchet MS"/>
              </a:rPr>
              <a:t>Gesendet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361188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Per E-Mail an den Kunden verschickt.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61188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Nichts. Fertig.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087368"/>
            <a:ext cx="10911535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22960" y="4197096"/>
            <a:ext cx="1417320" cy="329184"/>
          </a:xfrm>
          <a:prstGeom prst="roundRect">
            <a:avLst>
              <a:gd name="adj" fmla="val 8000"/>
            </a:avLst>
          </a:prstGeom>
          <a:solidFill>
            <a:srgbClr val="F8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A02020"/>
                </a:solidFill>
                <a:latin typeface="Trebuchet MS"/>
              </a:rPr>
              <a:t>Fehler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51760" y="416052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Die Prüfung hat etwas gefunden. Wird nicht verschickt.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416052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Rechnung öffnen, rote Meldung lesen, siehe Folie „Wenn es rot wird“.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4636008"/>
            <a:ext cx="10911535" cy="548640"/>
          </a:xfrm>
          <a:prstGeom prst="rect">
            <a:avLst/>
          </a:prstGeom>
          <a:solidFill>
            <a:srgbClr val="EE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22960" y="4745736"/>
            <a:ext cx="1417320" cy="329184"/>
          </a:xfrm>
          <a:prstGeom prst="roundRect">
            <a:avLst>
              <a:gd name="adj" fmla="val 8000"/>
            </a:avLst>
          </a:prstGeom>
          <a:solidFill>
            <a:srgbClr val="EAE7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7A746C"/>
                </a:solidFill>
                <a:latin typeface="Trebuchet MS"/>
              </a:rPr>
              <a:t>Zurückgelegt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51760" y="470916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Aus dem Lauf genommen, zum Beispiel ein Nullbeleg.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470916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Nichts.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5321808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B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" y="5321808"/>
            <a:ext cx="82296" cy="914400"/>
          </a:xfrm>
          <a:prstGeom prst="rect">
            <a:avLst/>
          </a:prstGeom>
          <a:solidFill>
            <a:srgbClr val="8A4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6112" y="5431536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8A4B12"/>
                </a:solidFill>
                <a:latin typeface="Trebuchet MS"/>
              </a:rPr>
              <a:t>HINWEIS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" y="5687568"/>
            <a:ext cx="105000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Oben rechts steht </a:t>
            </a:r>
            <a:r>
              <a:rPr sz="1350" b="1">
                <a:solidFill>
                  <a:srgbClr val="2A2824"/>
                </a:solidFill>
                <a:latin typeface="Trebuchet MS"/>
              </a:rPr>
              <a:t>„Automatik an“</a:t>
            </a:r>
            <a:r>
              <a:rPr sz="1350" b="0">
                <a:solidFill>
                  <a:srgbClr val="2A2824"/>
                </a:solidFill>
                <a:latin typeface="Trebuchet MS"/>
              </a:rPr>
              <a:t> oder </a:t>
            </a:r>
            <a:r>
              <a:rPr sz="1350" b="1">
                <a:solidFill>
                  <a:srgbClr val="2A2824"/>
                </a:solidFill>
                <a:latin typeface="Trebuchet MS"/>
              </a:rPr>
              <a:t>„aus“</a:t>
            </a:r>
            <a:r>
              <a:rPr sz="1350" b="0">
                <a:solidFill>
                  <a:srgbClr val="2A2824"/>
                </a:solidFill>
                <a:latin typeface="Trebuchet MS"/>
              </a:rPr>
              <a:t>. Ist sie an, verschickt das Programm Rechnungen im Status Neu oder Bereit mit Empfänger nach einer Wartezeit selbst — Rechnungen in </a:t>
            </a:r>
            <a:r>
              <a:rPr sz="1350" b="1">
                <a:solidFill>
                  <a:srgbClr val="2A2824"/>
                </a:solidFill>
                <a:latin typeface="Trebuchet MS"/>
              </a:rPr>
              <a:t>Prüfung</a:t>
            </a:r>
            <a:r>
              <a:rPr sz="1350" b="0">
                <a:solidFill>
                  <a:srgbClr val="2A2824"/>
                </a:solidFill>
                <a:latin typeface="Trebuchet MS"/>
              </a:rPr>
              <a:t> nie.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D9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745B2F"/>
                </a:solidFill>
                <a:latin typeface="Trebuchet MS"/>
              </a:rPr>
              <a:t>SCHRITT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Georgia"/>
              </a:rPr>
              <a:t>Neue Rechnungen holen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7A746C"/>
                </a:solidFill>
                <a:latin typeface="Trebuchet MS"/>
              </a:rPr>
              <a:t>XRechnung · Anleitung für den Alltag · Stand 16.09.2026 · Bilder mit Musterdaten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7A746C"/>
                </a:solidFill>
                <a:latin typeface="Trebuchet MS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030" y="1398270"/>
            <a:ext cx="10045293" cy="1775460"/>
          </a:xfrm>
          <a:prstGeom prst="rect">
            <a:avLst/>
          </a:prstGeom>
          <a:solidFill>
            <a:srgbClr val="D8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3_einles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10007193" cy="173736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40080" y="3410712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429000"/>
            <a:ext cx="5193792" cy="4773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0">
                <a:solidFill>
                  <a:srgbClr val="2A2824"/>
                </a:solidFill>
                <a:latin typeface="Trebuchet MS"/>
              </a:rPr>
              <a:t>Auf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„Jetzt einlesen“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 klicken. Das dauert ein paar Sekunden.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052620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070908"/>
            <a:ext cx="5193792" cy="7159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0">
                <a:solidFill>
                  <a:srgbClr val="2A2824"/>
                </a:solidFill>
                <a:latin typeface="Trebuchet MS"/>
              </a:rPr>
              <a:t>Oben erscheint,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was passiert ist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: wie viele gelesen, wie viele neu, wie viele zur Prüfung — und warum andere nicht aufgenommen wurden.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933187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4951475"/>
            <a:ext cx="5193792" cy="7159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0">
                <a:solidFill>
                  <a:srgbClr val="2A2824"/>
                </a:solidFill>
                <a:latin typeface="Trebuchet MS"/>
              </a:rPr>
              <a:t>Der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Zeitraum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 steht normalerweise richtig. Nur ändern, wenn Sie gezielt ältere Rechnungen holen sollen.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3383280"/>
            <a:ext cx="4876495" cy="1143000"/>
          </a:xfrm>
          <a:prstGeom prst="roundRect">
            <a:avLst>
              <a:gd name="adj" fmla="val 8000"/>
            </a:avLst>
          </a:prstGeom>
          <a:solidFill>
            <a:srgbClr val="E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75120" y="3383280"/>
            <a:ext cx="82296" cy="1143000"/>
          </a:xfrm>
          <a:prstGeom prst="rect">
            <a:avLst/>
          </a:prstGeom>
          <a:solidFill>
            <a:srgbClr val="1F5C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31152" y="3493008"/>
            <a:ext cx="4510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F5C3D"/>
                </a:solidFill>
                <a:latin typeface="Trebuchet MS"/>
              </a:rPr>
              <a:t>TIPP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1152" y="3749040"/>
            <a:ext cx="44650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Ist die Automatik an, liest das Programm alle paar Minuten von selbst ein. Der Takt steht über der Liste.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4663440"/>
            <a:ext cx="4876495" cy="1143000"/>
          </a:xfrm>
          <a:prstGeom prst="roundRect">
            <a:avLst>
              <a:gd name="adj" fmla="val 8000"/>
            </a:avLst>
          </a:prstGeom>
          <a:solidFill>
            <a:srgbClr val="F8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75120" y="4663440"/>
            <a:ext cx="82296" cy="1143000"/>
          </a:xfrm>
          <a:prstGeom prst="rect">
            <a:avLst/>
          </a:prstGeom>
          <a:solidFill>
            <a:srgbClr val="A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31152" y="4773168"/>
            <a:ext cx="4510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A02020"/>
                </a:solidFill>
                <a:latin typeface="Trebuchet MS"/>
              </a:rPr>
              <a:t>ACHTUNG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5029200"/>
            <a:ext cx="44650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1">
                <a:solidFill>
                  <a:srgbClr val="2A2824"/>
                </a:solidFill>
                <a:latin typeface="Trebuchet MS"/>
              </a:rPr>
              <a:t>„Durchlauf starten“</a:t>
            </a:r>
            <a:r>
              <a:rPr sz="1350" b="0">
                <a:solidFill>
                  <a:srgbClr val="2A2824"/>
                </a:solidFill>
                <a:latin typeface="Trebuchet MS"/>
              </a:rPr>
              <a:t> verschickt sofort alle fälligen Rechnungen. Nur drücken, wenn das so abgesprochen ist.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D9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745B2F"/>
                </a:solidFill>
                <a:latin typeface="Trebuchet MS"/>
              </a:rPr>
              <a:t>GUT ZU WISSEN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Georgia"/>
              </a:rPr>
              <a:t>Wenn die Automatik gerade arbeitet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7A746C"/>
                </a:solidFill>
                <a:latin typeface="Trebuchet MS"/>
              </a:rPr>
              <a:t>XRechnung · Anleitung für den Alltag · Stand 16.09.2026 · Bilder mit Musterdaten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7A746C"/>
                </a:solidFill>
                <a:latin typeface="Trebuchet MS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030" y="1398270"/>
            <a:ext cx="10949635" cy="1780914"/>
          </a:xfrm>
          <a:prstGeom prst="rect">
            <a:avLst/>
          </a:prstGeom>
          <a:solidFill>
            <a:srgbClr val="D8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9_automatik_arbeit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10911535" cy="1742814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40080" y="3639312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657600"/>
            <a:ext cx="5376672" cy="238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0">
                <a:solidFill>
                  <a:srgbClr val="2A2824"/>
                </a:solidFill>
                <a:latin typeface="Trebuchet MS"/>
              </a:rPr>
              <a:t>Oben rechts steht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„Automatik arbeitet …“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042562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060850"/>
            <a:ext cx="5376672" cy="4773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0">
                <a:solidFill>
                  <a:srgbClr val="2A2824"/>
                </a:solidFill>
                <a:latin typeface="Trebuchet MS"/>
              </a:rPr>
              <a:t>Darunter erklärt ein Streifen, was gerade gesperrt ist.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684470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4702758"/>
            <a:ext cx="5376672" cy="4773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2A2824"/>
                </a:solidFill>
                <a:latin typeface="Trebuchet MS"/>
              </a:rPr>
              <a:t>Einlesen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,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Durchlauf starten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 und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Jetzt versenden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 sind grau.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3611880"/>
            <a:ext cx="4693615" cy="1371600"/>
          </a:xfrm>
          <a:prstGeom prst="roundRect">
            <a:avLst>
              <a:gd name="adj" fmla="val 8000"/>
            </a:avLst>
          </a:prstGeom>
          <a:solidFill>
            <a:srgbClr val="E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3611880"/>
            <a:ext cx="82296" cy="1371600"/>
          </a:xfrm>
          <a:prstGeom prst="rect">
            <a:avLst/>
          </a:prstGeom>
          <a:solidFill>
            <a:srgbClr val="1F5C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4032" y="3721608"/>
            <a:ext cx="4327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F5C3D"/>
                </a:solidFill>
                <a:latin typeface="Trebuchet MS"/>
              </a:rPr>
              <a:t>TIPP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14032" y="3977640"/>
            <a:ext cx="4282135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Das dauert meist Sekunden. Einfach die Seite neu laden — danach geht wieder alles. So kommen sich Ihr Klick und der automatische Lauf nicht in die Quere.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D9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745B2F"/>
                </a:solidFill>
                <a:latin typeface="Trebuchet MS"/>
              </a:rPr>
              <a:t>SCHRITT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Georgia"/>
              </a:rPr>
              <a:t>Die Rechnung: die vier Knöpfe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7A746C"/>
                </a:solidFill>
                <a:latin typeface="Trebuchet MS"/>
              </a:rPr>
              <a:t>XRechnung · Anleitung für den Alltag · Stand 16.09.2026 · Bilder mit Musterdaten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7A746C"/>
                </a:solidFill>
                <a:latin typeface="Trebuchet MS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827270" y="1398270"/>
            <a:ext cx="6743395" cy="4294099"/>
          </a:xfrm>
          <a:prstGeom prst="rect">
            <a:avLst/>
          </a:prstGeom>
          <a:solidFill>
            <a:srgbClr val="D8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5_detail_ob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17320"/>
            <a:ext cx="6705295" cy="4255999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40080" y="1444752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1463040"/>
            <a:ext cx="3410712" cy="6912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2A2824"/>
                </a:solidFill>
                <a:latin typeface="Trebuchet MS"/>
              </a:rPr>
              <a:t>XML erzeugen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 baut die Datei und </a:t>
            </a:r>
            <a:r>
              <a:rPr sz="1400" b="1">
                <a:solidFill>
                  <a:srgbClr val="2A2824"/>
                </a:solidFill>
                <a:latin typeface="Trebuchet MS"/>
              </a:rPr>
              <a:t>prüft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 sie. Das schadet nie — erst prüfen, dann versenden.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300630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318918"/>
            <a:ext cx="3410712" cy="6912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2A2824"/>
                </a:solidFill>
                <a:latin typeface="Trebuchet MS"/>
              </a:rPr>
              <a:t>XML ansehen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 öffnet die Datei. Sie sieht technisch aus; das ist normal.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156508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174796"/>
            <a:ext cx="3410712" cy="6912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2A2824"/>
                </a:solidFill>
                <a:latin typeface="Trebuchet MS"/>
              </a:rPr>
              <a:t>Jetzt versenden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 schickt die Rechnung an den Empfänger. Ist der Knopf grau, fehlt noch etwas.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012386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030674"/>
            <a:ext cx="3410712" cy="460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2A2824"/>
                </a:solidFill>
                <a:latin typeface="Trebuchet MS"/>
              </a:rPr>
              <a:t>Zurücklegen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 nimmt die Rechnung aus dem Lauf.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47563"/>
            <a:ext cx="3886200" cy="1337733"/>
          </a:xfrm>
          <a:prstGeom prst="roundRect">
            <a:avLst>
              <a:gd name="adj" fmla="val 8000"/>
            </a:avLst>
          </a:prstGeom>
          <a:solidFill>
            <a:srgbClr val="FB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747563"/>
            <a:ext cx="82296" cy="1337733"/>
          </a:xfrm>
          <a:prstGeom prst="rect">
            <a:avLst/>
          </a:prstGeom>
          <a:solidFill>
            <a:srgbClr val="8A4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857291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8A4B12"/>
                </a:solidFill>
                <a:latin typeface="Trebuchet MS"/>
              </a:rPr>
              <a:t>HINWEIS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5113323"/>
            <a:ext cx="3474720" cy="926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0">
                <a:solidFill>
                  <a:srgbClr val="2A2824"/>
                </a:solidFill>
                <a:latin typeface="Trebuchet MS"/>
              </a:rPr>
              <a:t>Die Zeile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„Blindkopie geht an“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 zeigt, wer im Haus eine Kopie bekommt. Darum müssen Sie sich nicht kümmern.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D9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745B2F"/>
                </a:solidFill>
                <a:latin typeface="Trebuchet MS"/>
              </a:rPr>
              <a:t>SCHRITT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Georgia"/>
              </a:rPr>
              <a:t>Wohin geht die Rechnung?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7A746C"/>
                </a:solidFill>
                <a:latin typeface="Trebuchet MS"/>
              </a:rPr>
              <a:t>XRechnung · Anleitung für den Alltag · Stand 16.09.2026 · Bilder mit Musterdaten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7A746C"/>
                </a:solidFill>
                <a:latin typeface="Trebuchet MS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101590" y="1398270"/>
            <a:ext cx="5887746" cy="2415540"/>
          </a:xfrm>
          <a:prstGeom prst="rect">
            <a:avLst/>
          </a:prstGeom>
          <a:solidFill>
            <a:srgbClr val="D8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6_empfaen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17320"/>
            <a:ext cx="5849646" cy="237744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40080" y="1444752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1463040"/>
            <a:ext cx="3685032" cy="11932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0">
                <a:solidFill>
                  <a:srgbClr val="2A2824"/>
                </a:solidFill>
                <a:latin typeface="Trebuchet MS"/>
              </a:rPr>
              <a:t>Das Programm zeigt alle Adressen, die in OPERA zu dieser Rechnung stehen. Die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oberste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 ist meist die richtige: zuerst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„Debitorenkonto“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, dann Adressen mit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„primär“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802636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820924"/>
            <a:ext cx="3685032" cy="4773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0">
                <a:solidFill>
                  <a:srgbClr val="2A2824"/>
                </a:solidFill>
                <a:latin typeface="Trebuchet MS"/>
              </a:rPr>
              <a:t>Steht die richtige nicht dabei: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von Hand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 eintragen. Genau abtippen.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444544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462832"/>
            <a:ext cx="3685032" cy="4773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0">
                <a:solidFill>
                  <a:srgbClr val="2A2824"/>
                </a:solidFill>
                <a:latin typeface="Trebuchet MS"/>
              </a:rPr>
              <a:t>Auf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„Empfänger übernehmen“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 klicken. Der Status wird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Bereit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20640" y="3931920"/>
            <a:ext cx="6430975" cy="1143000"/>
          </a:xfrm>
          <a:prstGeom prst="roundRect">
            <a:avLst>
              <a:gd name="adj" fmla="val 8000"/>
            </a:avLst>
          </a:prstGeom>
          <a:solidFill>
            <a:srgbClr val="FB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0" y="3931920"/>
            <a:ext cx="82296" cy="1143000"/>
          </a:xfrm>
          <a:prstGeom prst="rect">
            <a:avLst/>
          </a:prstGeom>
          <a:solidFill>
            <a:srgbClr val="8A4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76672" y="4041648"/>
            <a:ext cx="6065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8A4B12"/>
                </a:solidFill>
                <a:latin typeface="Trebuchet MS"/>
              </a:rPr>
              <a:t>HINWEIS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6672" y="4297680"/>
            <a:ext cx="60194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Stand die Rechnung in </a:t>
            </a:r>
            <a:r>
              <a:rPr sz="1350" b="1">
                <a:solidFill>
                  <a:srgbClr val="2A2824"/>
                </a:solidFill>
                <a:latin typeface="Trebuchet MS"/>
              </a:rPr>
              <a:t>Prüfung</a:t>
            </a:r>
            <a:r>
              <a:rPr sz="1350" b="0">
                <a:solidFill>
                  <a:srgbClr val="2A2824"/>
                </a:solidFill>
                <a:latin typeface="Trebuchet MS"/>
              </a:rPr>
              <a:t>, bleibt sie dort — eine Adresse zu wählen ist noch keine Freigabe. Sonst wird der Status </a:t>
            </a:r>
            <a:r>
              <a:rPr sz="1350" b="1">
                <a:solidFill>
                  <a:srgbClr val="2A2824"/>
                </a:solidFill>
                <a:latin typeface="Trebuchet MS"/>
              </a:rPr>
              <a:t>Bereit</a:t>
            </a:r>
            <a:r>
              <a:rPr sz="1350" b="0">
                <a:solidFill>
                  <a:srgbClr val="2A2824"/>
                </a:solidFill>
                <a:latin typeface="Trebuchet MS"/>
              </a:rPr>
              <a:t>, und die Automatik darf sie verschicken.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0" y="5184648"/>
            <a:ext cx="6430975" cy="1117600"/>
          </a:xfrm>
          <a:prstGeom prst="roundRect">
            <a:avLst>
              <a:gd name="adj" fmla="val 8000"/>
            </a:avLst>
          </a:prstGeom>
          <a:solidFill>
            <a:srgbClr val="E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0" y="5184648"/>
            <a:ext cx="82296" cy="1117600"/>
          </a:xfrm>
          <a:prstGeom prst="rect">
            <a:avLst/>
          </a:prstGeom>
          <a:solidFill>
            <a:srgbClr val="1F5C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76672" y="5294376"/>
            <a:ext cx="6065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F5C3D"/>
                </a:solidFill>
                <a:latin typeface="Trebuchet MS"/>
              </a:rPr>
              <a:t>TIPP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6672" y="5550408"/>
            <a:ext cx="6019495" cy="706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0">
                <a:solidFill>
                  <a:srgbClr val="2A2824"/>
                </a:solidFill>
                <a:latin typeface="Trebuchet MS"/>
              </a:rPr>
              <a:t>Eine von Hand eingetragene Adresse gilt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nur für diese Rechnung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. Damit die nächste Rechnung sie auch hat, gehört sie in OPERA an das Kundenprofil.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D9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745B2F"/>
                </a:solidFill>
                <a:latin typeface="Trebuchet MS"/>
              </a:rPr>
              <a:t>SCHRITT 4 · NUR BEI BEDARF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Georgia"/>
              </a:rPr>
              <a:t>Bestellnummer des Kunden eintragen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7A746C"/>
                </a:solidFill>
                <a:latin typeface="Trebuchet MS"/>
              </a:rPr>
              <a:t>XRechnung · Anleitung für den Alltag · Stand 16.09.2026 · Bilder mit Musterdaten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7A746C"/>
                </a:solidFill>
                <a:latin typeface="Trebuchet MS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101590" y="1398270"/>
            <a:ext cx="6308271" cy="2964180"/>
          </a:xfrm>
          <a:prstGeom prst="rect">
            <a:avLst/>
          </a:prstGeom>
          <a:solidFill>
            <a:srgbClr val="D8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7_kaeuferreferen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17320"/>
            <a:ext cx="6270171" cy="2926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1417320"/>
            <a:ext cx="4160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2A2824"/>
                </a:solidFill>
                <a:latin typeface="Trebuchet MS"/>
              </a:rPr>
              <a:t>Manche Firmen verlangen ihre </a:t>
            </a:r>
            <a:r>
              <a:rPr sz="1500" b="1">
                <a:solidFill>
                  <a:srgbClr val="2A2824"/>
                </a:solidFill>
                <a:latin typeface="Trebuchet MS"/>
              </a:rPr>
              <a:t>Bestellnummer</a:t>
            </a:r>
            <a:r>
              <a:rPr sz="1500" b="0">
                <a:solidFill>
                  <a:srgbClr val="2A2824"/>
                </a:solidFill>
                <a:latin typeface="Trebuchet MS"/>
              </a:rPr>
              <a:t> auf der Rechnung — sonst können sie sie nicht zuordnen. Das Programm nennt das </a:t>
            </a:r>
            <a:r>
              <a:rPr sz="1500" b="1">
                <a:solidFill>
                  <a:srgbClr val="2A2824"/>
                </a:solidFill>
                <a:latin typeface="Trebuchet MS"/>
              </a:rPr>
              <a:t>Käuferreferenz</a:t>
            </a:r>
            <a:r>
              <a:rPr sz="1500" b="0">
                <a:solidFill>
                  <a:srgbClr val="2A2824"/>
                </a:solidFill>
                <a:latin typeface="Trebuchet MS"/>
              </a:rPr>
              <a:t>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724912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743200"/>
            <a:ext cx="368503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2A2824"/>
                </a:solidFill>
                <a:latin typeface="Trebuchet MS"/>
              </a:rPr>
              <a:t>Die Nummer des Kunden </a:t>
            </a:r>
            <a:r>
              <a:rPr sz="1500" b="1">
                <a:solidFill>
                  <a:srgbClr val="2A2824"/>
                </a:solidFill>
                <a:latin typeface="Trebuchet MS"/>
              </a:rPr>
              <a:t>von Hand</a:t>
            </a:r>
            <a:r>
              <a:rPr sz="1500" b="0">
                <a:solidFill>
                  <a:srgbClr val="2A2824"/>
                </a:solidFill>
                <a:latin typeface="Trebuchet MS"/>
              </a:rPr>
              <a:t> eintragen.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383280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401568"/>
            <a:ext cx="368503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2A2824"/>
                </a:solidFill>
                <a:latin typeface="Trebuchet MS"/>
              </a:rPr>
              <a:t>Auf </a:t>
            </a:r>
            <a:r>
              <a:rPr sz="1500" b="1">
                <a:solidFill>
                  <a:srgbClr val="2A2824"/>
                </a:solidFill>
                <a:latin typeface="Trebuchet MS"/>
              </a:rPr>
              <a:t>„Käuferreferenz übernehmen“</a:t>
            </a:r>
            <a:r>
              <a:rPr sz="1500" b="0">
                <a:solidFill>
                  <a:srgbClr val="2A2824"/>
                </a:solidFill>
                <a:latin typeface="Trebuchet MS"/>
              </a:rPr>
              <a:t> klicken.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43400"/>
            <a:ext cx="4160520" cy="1371600"/>
          </a:xfrm>
          <a:prstGeom prst="roundRect">
            <a:avLst>
              <a:gd name="adj" fmla="val 8000"/>
            </a:avLst>
          </a:prstGeom>
          <a:solidFill>
            <a:srgbClr val="FB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343400"/>
            <a:ext cx="82296" cy="1371600"/>
          </a:xfrm>
          <a:prstGeom prst="rect">
            <a:avLst/>
          </a:prstGeom>
          <a:solidFill>
            <a:srgbClr val="8A4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453128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8A4B12"/>
                </a:solidFill>
                <a:latin typeface="Trebuchet MS"/>
              </a:rPr>
              <a:t>HINWEIS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709160"/>
            <a:ext cx="37490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Steht in der Rechnung </a:t>
            </a:r>
            <a:r>
              <a:rPr sz="1350" b="1">
                <a:solidFill>
                  <a:srgbClr val="2A2824"/>
                </a:solidFill>
                <a:latin typeface="Trebuchet MS"/>
              </a:rPr>
              <a:t>„Ersatzwert“</a:t>
            </a:r>
            <a:r>
              <a:rPr sz="1350" b="0">
                <a:solidFill>
                  <a:srgbClr val="2A2824"/>
                </a:solidFill>
                <a:latin typeface="Trebuchet MS"/>
              </a:rPr>
              <a:t>, hat der Kunde keine Nummer hinterlegt. Für normale Firmen ist das in Ordnung.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20640" y="4526280"/>
            <a:ext cx="6430975" cy="1143000"/>
          </a:xfrm>
          <a:prstGeom prst="roundRect">
            <a:avLst>
              <a:gd name="adj" fmla="val 8000"/>
            </a:avLst>
          </a:prstGeom>
          <a:solidFill>
            <a:srgbClr val="E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0" y="4526280"/>
            <a:ext cx="82296" cy="1143000"/>
          </a:xfrm>
          <a:prstGeom prst="rect">
            <a:avLst/>
          </a:prstGeom>
          <a:solidFill>
            <a:srgbClr val="1F5C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76672" y="4636008"/>
            <a:ext cx="6065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F5C3D"/>
                </a:solidFill>
                <a:latin typeface="Trebuchet MS"/>
              </a:rPr>
              <a:t>TIPP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76672" y="4892040"/>
            <a:ext cx="60194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Für den Empfang: Die Bestellnummer gehört </a:t>
            </a:r>
            <a:r>
              <a:rPr sz="1350" b="1">
                <a:solidFill>
                  <a:srgbClr val="2A2824"/>
                </a:solidFill>
                <a:latin typeface="Trebuchet MS"/>
              </a:rPr>
              <a:t>vor dem Check-out</a:t>
            </a:r>
            <a:r>
              <a:rPr sz="1350" b="0">
                <a:solidFill>
                  <a:srgbClr val="2A2824"/>
                </a:solidFill>
                <a:latin typeface="Trebuchet MS"/>
              </a:rPr>
              <a:t> in OPERA in das Feld </a:t>
            </a:r>
            <a:r>
              <a:rPr sz="1350" b="1">
                <a:solidFill>
                  <a:srgbClr val="2A2824"/>
                </a:solidFill>
                <a:latin typeface="Trebuchet MS"/>
              </a:rPr>
              <a:t>„Buyer Reference1“</a:t>
            </a:r>
            <a:r>
              <a:rPr sz="1350" b="0">
                <a:solidFill>
                  <a:srgbClr val="2A2824"/>
                </a:solidFill>
                <a:latin typeface="Trebuchet MS"/>
              </a:rPr>
              <a:t> der Reservierung. Dann kommt sie von selbst auf die Rechnung.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D9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745B2F"/>
                </a:solidFill>
                <a:latin typeface="Trebuchet MS"/>
              </a:rPr>
              <a:t>SCHRITT 4 · MEIST NICHTS ZU TUN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Georgia"/>
              </a:rPr>
              <a:t>Wie die Positionen auf der Rechnung stehen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7A746C"/>
                </a:solidFill>
                <a:latin typeface="Trebuchet MS"/>
              </a:rPr>
              <a:t>XRechnung · Anleitung für den Alltag · Stand 16.09.2026 · Bilder mit Musterdaten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7A746C"/>
                </a:solidFill>
                <a:latin typeface="Trebuchet MS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030" y="1992630"/>
            <a:ext cx="4448066" cy="2415540"/>
          </a:xfrm>
          <a:prstGeom prst="rect">
            <a:avLst/>
          </a:prstGeom>
          <a:solidFill>
            <a:srgbClr val="D8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8_positionen_einz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11680"/>
            <a:ext cx="4409966" cy="23774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259677" y="1398270"/>
            <a:ext cx="3307290" cy="3604074"/>
          </a:xfrm>
          <a:prstGeom prst="rect">
            <a:avLst/>
          </a:prstGeom>
          <a:solidFill>
            <a:srgbClr val="D8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9_positionen_grup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27" y="1417320"/>
            <a:ext cx="3269190" cy="35659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1417320"/>
            <a:ext cx="52728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2A2824"/>
                </a:solidFill>
                <a:latin typeface="Trebuchet MS"/>
              </a:rPr>
              <a:t>Einzelrechnung: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 gleiche Leistungen zum gleichen Preis stehen zusammen — „3 × Übernachtung“.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76517" y="1463040"/>
            <a:ext cx="1775097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2A2824"/>
                </a:solidFill>
                <a:latin typeface="Trebuchet MS"/>
              </a:rPr>
              <a:t>Gruppe: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 je Gast eine Zeile mit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Zimmer und Name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, dazu der Aufenthalt.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0">
                <a:solidFill>
                  <a:srgbClr val="2A2824"/>
                </a:solidFill>
                <a:latin typeface="Trebuchet MS"/>
              </a:rPr>
              <a:t>Das Programm erkennt selbst, ob es eine Gruppe ist (1).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599432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4617720"/>
            <a:ext cx="4797399" cy="460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2A2824"/>
                </a:solidFill>
                <a:latin typeface="Trebuchet MS"/>
              </a:rPr>
              <a:t>Nur wenn der Kunde es anders möchte: andere Art wählen, </a:t>
            </a:r>
            <a:r>
              <a:rPr sz="1400" b="1">
                <a:solidFill>
                  <a:srgbClr val="2A2824"/>
                </a:solidFill>
                <a:latin typeface="Trebuchet MS"/>
              </a:rPr>
              <a:t>„Übernehmen“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.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5224881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5243169"/>
            <a:ext cx="4797399" cy="460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2A2824"/>
                </a:solidFill>
                <a:latin typeface="Trebuchet MS"/>
              </a:rPr>
              <a:t>Die Tabelle zeigt danach genau das, was verschickt wird.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76517" y="3794760"/>
            <a:ext cx="1775097" cy="1337733"/>
          </a:xfrm>
          <a:prstGeom prst="roundRect">
            <a:avLst>
              <a:gd name="adj" fmla="val 8000"/>
            </a:avLst>
          </a:prstGeom>
          <a:solidFill>
            <a:srgbClr val="FB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76517" y="3794760"/>
            <a:ext cx="82296" cy="1337733"/>
          </a:xfrm>
          <a:prstGeom prst="rect">
            <a:avLst/>
          </a:prstGeom>
          <a:solidFill>
            <a:srgbClr val="8A4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32549" y="3904488"/>
            <a:ext cx="14093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8A4B12"/>
                </a:solidFill>
                <a:latin typeface="Trebuchet MS"/>
              </a:rPr>
              <a:t>HINWEIS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2549" y="4160520"/>
            <a:ext cx="1363617" cy="926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0">
                <a:solidFill>
                  <a:srgbClr val="2A2824"/>
                </a:solidFill>
                <a:latin typeface="Trebuchet MS"/>
              </a:rPr>
              <a:t>Die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Beträge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 ändern sich dabei nie — nur die Darstellung.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D9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745B2F"/>
                </a:solidFill>
                <a:latin typeface="Trebuchet MS"/>
              </a:rPr>
              <a:t>SCHRITT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Georgia"/>
              </a:rPr>
              <a:t>Prüfen: „XML erzeugen“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7A746C"/>
                </a:solidFill>
                <a:latin typeface="Trebuchet MS"/>
              </a:rPr>
              <a:t>XRechnung · Anleitung für den Alltag · Stand 16.09.2026 · Bilder mit Musterdaten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7A746C"/>
                </a:solidFill>
                <a:latin typeface="Trebuchet MS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030" y="1398270"/>
            <a:ext cx="9215350" cy="2141220"/>
          </a:xfrm>
          <a:prstGeom prst="rect">
            <a:avLst/>
          </a:prstGeom>
          <a:solidFill>
            <a:srgbClr val="D8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0_xml_erzeug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9177250" cy="2103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5568" y="3794760"/>
            <a:ext cx="5193792" cy="7159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0">
                <a:solidFill>
                  <a:srgbClr val="2A2824"/>
                </a:solidFill>
                <a:latin typeface="Trebuchet MS"/>
              </a:rPr>
              <a:t>Klicken Sie in der Rechnung auf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„XML erzeugen“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. Das Programm rechnet nach und prüft die Datei mit dem offiziellen Prüfprogramm.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657039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675327"/>
            <a:ext cx="5193792" cy="4773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0">
                <a:solidFill>
                  <a:srgbClr val="2A2824"/>
                </a:solidFill>
                <a:latin typeface="Trebuchet MS"/>
              </a:rPr>
              <a:t>Steht oben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„XML erzeugt“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 ohne weitere Hinweise: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alles in Ordnung.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298947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5317235"/>
            <a:ext cx="5193792" cy="4773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0">
                <a:solidFill>
                  <a:srgbClr val="2A2824"/>
                </a:solidFill>
                <a:latin typeface="Trebuchet MS"/>
              </a:rPr>
              <a:t>Der Knopf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„Jetzt versenden“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 ist dann dunkel und klickbar.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0" y="3749039"/>
            <a:ext cx="4876495" cy="1143000"/>
          </a:xfrm>
          <a:prstGeom prst="roundRect">
            <a:avLst>
              <a:gd name="adj" fmla="val 8000"/>
            </a:avLst>
          </a:prstGeom>
          <a:solidFill>
            <a:srgbClr val="E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75120" y="3749039"/>
            <a:ext cx="82296" cy="1143000"/>
          </a:xfrm>
          <a:prstGeom prst="rect">
            <a:avLst/>
          </a:prstGeom>
          <a:solidFill>
            <a:srgbClr val="1F5C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3858767"/>
            <a:ext cx="4510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F5C3D"/>
                </a:solidFill>
                <a:latin typeface="Trebuchet MS"/>
              </a:rPr>
              <a:t>TIPP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31152" y="4114799"/>
            <a:ext cx="44650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Sie können „XML erzeugen“ </a:t>
            </a:r>
            <a:r>
              <a:rPr sz="1350" b="1">
                <a:solidFill>
                  <a:srgbClr val="2A2824"/>
                </a:solidFill>
                <a:latin typeface="Trebuchet MS"/>
              </a:rPr>
              <a:t>so oft drücken, wie Sie wollen</a:t>
            </a:r>
            <a:r>
              <a:rPr sz="1350" b="0">
                <a:solidFill>
                  <a:srgbClr val="2A2824"/>
                </a:solidFill>
                <a:latin typeface="Trebuchet MS"/>
              </a:rPr>
              <a:t>. Es verschickt nichts und ändert nichts in OPERA.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D9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745B2F"/>
                </a:solidFill>
                <a:latin typeface="Trebuchet MS"/>
              </a:rPr>
              <a:t>SCHRITT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Georgia"/>
              </a:rPr>
              <a:t>Wenn es rot wird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7A746C"/>
                </a:solidFill>
                <a:latin typeface="Trebuchet MS"/>
              </a:rPr>
              <a:t>XRechnung · Anleitung für den Alltag · Stand 16.09.2026 · Bilder mit Musterdaten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7A746C"/>
                </a:solidFill>
                <a:latin typeface="Trebuchet MS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6015990" y="1398270"/>
            <a:ext cx="2077242" cy="2827020"/>
          </a:xfrm>
          <a:prstGeom prst="rect">
            <a:avLst/>
          </a:prstGeom>
          <a:solidFill>
            <a:srgbClr val="D8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1_vorpruefung_r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417320"/>
            <a:ext cx="2039142" cy="278892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40080" y="1444752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1463040"/>
            <a:ext cx="3410712" cy="4773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0">
                <a:solidFill>
                  <a:srgbClr val="2A2824"/>
                </a:solidFill>
                <a:latin typeface="Trebuchet MS"/>
              </a:rPr>
              <a:t>Unter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„Vorprüfung“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 steht in Rot, was fehlt oder nicht passt.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086660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104948"/>
            <a:ext cx="3410712" cy="7159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0">
                <a:solidFill>
                  <a:srgbClr val="2A2824"/>
                </a:solidFill>
                <a:latin typeface="Trebuchet MS"/>
              </a:rPr>
              <a:t>Solange etwas rot ist, bleibt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„Jetzt versenden“ grau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. Es kann nichts Falsches hinausgehen.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261104"/>
            <a:ext cx="10911535" cy="3291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31596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F6F4F0"/>
                </a:solidFill>
                <a:latin typeface="Trebuchet MS"/>
              </a:rPr>
              <a:t>STEHT DORT 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431596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F6F4F0"/>
                </a:solidFill>
                <a:latin typeface="Trebuchet MS"/>
              </a:rPr>
              <a:t>… DANN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590288"/>
            <a:ext cx="10911535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654296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2A2824"/>
                </a:solidFill>
                <a:latin typeface="Trebuchet MS"/>
              </a:rPr>
              <a:t>… E-Mail / BT-49 fehlt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4654296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2A2824"/>
                </a:solidFill>
                <a:latin typeface="Trebuchet MS"/>
              </a:rPr>
              <a:t>Empfänger wählen oder von Hand eintragen.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919472"/>
            <a:ext cx="10911535" cy="329184"/>
          </a:xfrm>
          <a:prstGeom prst="rect">
            <a:avLst/>
          </a:prstGeom>
          <a:solidFill>
            <a:srgbClr val="EE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9834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2A2824"/>
                </a:solidFill>
                <a:latin typeface="Trebuchet MS"/>
              </a:rPr>
              <a:t>Ort, Land oder Name des Empfängers fehlt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498348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2A2824"/>
                </a:solidFill>
                <a:latin typeface="Trebuchet MS"/>
              </a:rPr>
              <a:t>Anschrift in OPERA am Kundenprofil ergänzen, dann die Rechnung neu öffnen.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248656"/>
            <a:ext cx="10911535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31266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2A2824"/>
                </a:solidFill>
                <a:latin typeface="Trebuchet MS"/>
              </a:rPr>
              <a:t>Positionen / Summe / Folio-Klammer / Steuergruppe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5312664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2A2824"/>
                </a:solidFill>
                <a:latin typeface="Trebuchet MS"/>
              </a:rPr>
              <a:t>Nicht selbst korrigieren — an die Buchhaltung melden.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577840"/>
            <a:ext cx="10911535" cy="329184"/>
          </a:xfrm>
          <a:prstGeom prst="rect">
            <a:avLst/>
          </a:prstGeom>
          <a:solidFill>
            <a:srgbClr val="EE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184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2A2824"/>
                </a:solidFill>
                <a:latin typeface="Trebuchet MS"/>
              </a:rPr>
              <a:t>KoSIT: 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564184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2A2824"/>
                </a:solidFill>
                <a:latin typeface="Trebuchet MS"/>
              </a:rPr>
              <a:t>Das offizielle Prüfprogramm beanstandet etwas. Rechnungsnummer an die IT geben.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907024"/>
            <a:ext cx="10911535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97103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2A2824"/>
                </a:solidFill>
                <a:latin typeface="Trebuchet MS"/>
              </a:rPr>
              <a:t>Nullbeleg / negativer Betrag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77840" y="597103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2A2824"/>
                </a:solidFill>
                <a:latin typeface="Trebuchet MS"/>
              </a:rPr>
              <a:t>Gehört nicht in den Versand. Zurücklegen.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3246120"/>
            <a:ext cx="3886200" cy="896112"/>
          </a:xfrm>
          <a:prstGeom prst="roundRect">
            <a:avLst>
              <a:gd name="adj" fmla="val 8000"/>
            </a:avLst>
          </a:prstGeom>
          <a:solidFill>
            <a:srgbClr val="F8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3246120"/>
            <a:ext cx="82296" cy="896112"/>
          </a:xfrm>
          <a:prstGeom prst="rect">
            <a:avLst/>
          </a:prstGeom>
          <a:solidFill>
            <a:srgbClr val="A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3355848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A02020"/>
                </a:solidFill>
                <a:latin typeface="Trebuchet MS"/>
              </a:rPr>
              <a:t>ACHTUNG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" y="3611880"/>
            <a:ext cx="3474720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0">
                <a:solidFill>
                  <a:srgbClr val="2A2824"/>
                </a:solidFill>
                <a:latin typeface="Trebuchet MS"/>
              </a:rPr>
              <a:t>Beträge werden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nie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 hier korrigiert, sondern in OPERA.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D9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745B2F"/>
                </a:solidFill>
                <a:latin typeface="Trebuchet MS"/>
              </a:rPr>
              <a:t>SCHRITT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Georgia"/>
              </a:rPr>
              <a:t>Versenden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7A746C"/>
                </a:solidFill>
                <a:latin typeface="Trebuchet MS"/>
              </a:rPr>
              <a:t>XRechnung · Anleitung für den Alltag · Stand 16.09.2026 · Bilder mit Musterdaten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7A746C"/>
                </a:solidFill>
                <a:latin typeface="Trebuchet MS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5101590" y="1398270"/>
            <a:ext cx="6469075" cy="1154588"/>
          </a:xfrm>
          <a:prstGeom prst="rect">
            <a:avLst/>
          </a:prstGeom>
          <a:solidFill>
            <a:srgbClr val="D8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2_testlau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17320"/>
            <a:ext cx="6430975" cy="111648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101590" y="3227070"/>
            <a:ext cx="4555236" cy="1226820"/>
          </a:xfrm>
          <a:prstGeom prst="rect">
            <a:avLst/>
          </a:prstGeom>
          <a:solidFill>
            <a:srgbClr val="D8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12b_versend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3246120"/>
            <a:ext cx="4517136" cy="1188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15568" y="1463040"/>
            <a:ext cx="3685032" cy="460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2A2824"/>
                </a:solidFill>
                <a:latin typeface="Trebuchet MS"/>
              </a:rPr>
              <a:t>In der Rechnung auf </a:t>
            </a:r>
            <a:r>
              <a:rPr sz="1400" b="1">
                <a:solidFill>
                  <a:srgbClr val="2A2824"/>
                </a:solidFill>
                <a:latin typeface="Trebuchet MS"/>
              </a:rPr>
              <a:t>„Jetzt versenden“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 klicken.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088489"/>
            <a:ext cx="3685032" cy="921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2A2824"/>
                </a:solidFill>
                <a:latin typeface="Trebuchet MS"/>
              </a:rPr>
              <a:t>Oben erscheint </a:t>
            </a:r>
            <a:r>
              <a:rPr sz="1400" b="1">
                <a:solidFill>
                  <a:srgbClr val="2A2824"/>
                </a:solidFill>
                <a:latin typeface="Trebuchet MS"/>
              </a:rPr>
              <a:t>„Versendet“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 (unteres Bild). Der Status wird </a:t>
            </a:r>
            <a:r>
              <a:rPr sz="1400" b="1">
                <a:solidFill>
                  <a:srgbClr val="2A2824"/>
                </a:solidFill>
                <a:latin typeface="Trebuchet MS"/>
              </a:rPr>
              <a:t>Gesendet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, und im Verlauf steht, an wen und wann.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156508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174796"/>
            <a:ext cx="3685032" cy="921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2A2824"/>
                </a:solidFill>
                <a:latin typeface="Trebuchet MS"/>
              </a:rPr>
              <a:t>Steht dort </a:t>
            </a:r>
            <a:r>
              <a:rPr sz="1400" b="1">
                <a:solidFill>
                  <a:srgbClr val="2A2824"/>
                </a:solidFill>
                <a:latin typeface="Trebuchet MS"/>
              </a:rPr>
              <a:t>„Testlauf: nicht wirklich versendet“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, ist das Programm im Probebetrieb — es geht </a:t>
            </a:r>
            <a:r>
              <a:rPr sz="1400" b="1">
                <a:solidFill>
                  <a:srgbClr val="2A2824"/>
                </a:solidFill>
                <a:latin typeface="Trebuchet MS"/>
              </a:rPr>
              <a:t>nichts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 an den Kunden.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242815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261103"/>
            <a:ext cx="3685032" cy="460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2A2824"/>
                </a:solidFill>
                <a:latin typeface="Trebuchet MS"/>
              </a:rPr>
              <a:t>Den Probebetrieb erkennen Sie oben am Wort </a:t>
            </a:r>
            <a:r>
              <a:rPr sz="1400" b="1">
                <a:solidFill>
                  <a:srgbClr val="2A2824"/>
                </a:solidFill>
                <a:latin typeface="Trebuchet MS"/>
              </a:rPr>
              <a:t>„Testlauf“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20640" y="4709160"/>
            <a:ext cx="6430975" cy="1371600"/>
          </a:xfrm>
          <a:prstGeom prst="roundRect">
            <a:avLst>
              <a:gd name="adj" fmla="val 8000"/>
            </a:avLst>
          </a:prstGeom>
          <a:solidFill>
            <a:srgbClr val="F8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0" y="4709160"/>
            <a:ext cx="82296" cy="1371600"/>
          </a:xfrm>
          <a:prstGeom prst="rect">
            <a:avLst/>
          </a:prstGeom>
          <a:solidFill>
            <a:srgbClr val="A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76672" y="4818888"/>
            <a:ext cx="6065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A02020"/>
                </a:solidFill>
                <a:latin typeface="Trebuchet MS"/>
              </a:rPr>
              <a:t>ACHTUNG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76672" y="5074920"/>
            <a:ext cx="6019495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Versendet ist versendet. Eine verschickte Rechnung lässt sich </a:t>
            </a:r>
            <a:r>
              <a:rPr sz="1350" b="1">
                <a:solidFill>
                  <a:srgbClr val="2A2824"/>
                </a:solidFill>
                <a:latin typeface="Trebuchet MS"/>
              </a:rPr>
              <a:t>nicht zurückholen</a:t>
            </a:r>
            <a:r>
              <a:rPr sz="1350" b="0">
                <a:solidFill>
                  <a:srgbClr val="2A2824"/>
                </a:solidFill>
                <a:latin typeface="Trebuchet MS"/>
              </a:rPr>
              <a:t> und im Programm </a:t>
            </a:r>
            <a:r>
              <a:rPr sz="1350" b="1">
                <a:solidFill>
                  <a:srgbClr val="2A2824"/>
                </a:solidFill>
                <a:latin typeface="Trebuchet MS"/>
              </a:rPr>
              <a:t>nicht noch einmal</a:t>
            </a:r>
            <a:r>
              <a:rPr sz="1350" b="0">
                <a:solidFill>
                  <a:srgbClr val="2A2824"/>
                </a:solidFill>
                <a:latin typeface="Trebuchet MS"/>
              </a:rPr>
              <a:t> verschicken. Also vorher: Empfänger stimmt? Prüfung grün?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D9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745B2F"/>
                </a:solidFill>
                <a:latin typeface="Trebuchet MS"/>
              </a:rPr>
              <a:t>SONDERFALL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Georgia"/>
              </a:rPr>
              <a:t>„Firma hängt an der Reservierung“ — wer bekommt die Rechnung?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7A746C"/>
                </a:solidFill>
                <a:latin typeface="Trebuchet MS"/>
              </a:rPr>
              <a:t>XRechnung · Anleitung für den Alltag · Stand 16.09.2026 · Bilder mit Musterdaten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7A746C"/>
                </a:solidFill>
                <a:latin typeface="Trebuchet MS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827270" y="1398270"/>
            <a:ext cx="3850044" cy="2735580"/>
          </a:xfrm>
          <a:prstGeom prst="rect">
            <a:avLst/>
          </a:prstGeom>
          <a:solidFill>
            <a:srgbClr val="D8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3_sichtpruefu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17320"/>
            <a:ext cx="3811944" cy="269748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40080" y="1444752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1463040"/>
            <a:ext cx="3410712" cy="6912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2A2824"/>
                </a:solidFill>
                <a:latin typeface="Trebuchet MS"/>
              </a:rPr>
              <a:t>Das Programm ist sich </a:t>
            </a:r>
            <a:r>
              <a:rPr sz="1400" b="1">
                <a:solidFill>
                  <a:srgbClr val="2A2824"/>
                </a:solidFill>
                <a:latin typeface="Trebuchet MS"/>
              </a:rPr>
              <a:t>nicht sicher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: Eine Firma hat gebucht, bezahlt hat vielleicht der Gast selbst.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300630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318918"/>
            <a:ext cx="3410712" cy="2304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2A2824"/>
                </a:solidFill>
                <a:latin typeface="Trebuchet MS"/>
              </a:rPr>
              <a:t>Schauen Sie auf </a:t>
            </a:r>
            <a:r>
              <a:rPr sz="1400" b="1">
                <a:solidFill>
                  <a:srgbClr val="2A2824"/>
                </a:solidFill>
                <a:latin typeface="Trebuchet MS"/>
              </a:rPr>
              <a:t>„Bezahlt über“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713938"/>
            <a:ext cx="3410712" cy="921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2A2824"/>
                </a:solidFill>
                <a:latin typeface="Trebuchet MS"/>
              </a:rPr>
              <a:t>Gehört die Rechnung der Firma: Empfänger wählen, dann </a:t>
            </a:r>
            <a:r>
              <a:rPr sz="1400" b="1">
                <a:solidFill>
                  <a:srgbClr val="2A2824"/>
                </a:solidFill>
                <a:latin typeface="Trebuchet MS"/>
              </a:rPr>
              <a:t>„Prüfung abgeschlossen“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 — oder gleich </a:t>
            </a:r>
            <a:r>
              <a:rPr sz="1400" b="1">
                <a:solidFill>
                  <a:srgbClr val="2A2824"/>
                </a:solidFill>
                <a:latin typeface="Trebuchet MS"/>
              </a:rPr>
              <a:t>„Jetzt versenden“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062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Trebuchet MS"/>
              </a:rPr>
              <a:t>Bezahlt über 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17720"/>
            <a:ext cx="3454298" cy="1645920"/>
          </a:xfrm>
          <a:prstGeom prst="roundRect">
            <a:avLst>
              <a:gd name="adj" fmla="val 8000"/>
            </a:avLst>
          </a:prstGeom>
          <a:solidFill>
            <a:srgbClr val="E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617720"/>
            <a:ext cx="82296" cy="1645920"/>
          </a:xfrm>
          <a:prstGeom prst="rect">
            <a:avLst/>
          </a:prstGeom>
          <a:solidFill>
            <a:srgbClr val="1F5C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709160"/>
            <a:ext cx="308853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50" b="1">
                <a:solidFill>
                  <a:srgbClr val="1F5C3D"/>
                </a:solidFill>
                <a:latin typeface="Trebuchet MS"/>
              </a:rPr>
              <a:t>City Ledger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5029200"/>
            <a:ext cx="30885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2A2824"/>
                </a:solidFill>
                <a:latin typeface="Trebuchet MS"/>
              </a:rPr>
              <a:t>Die Firma zahlt über ihr Debitorenkonto.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623560"/>
            <a:ext cx="308853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2A2824"/>
                </a:solidFill>
                <a:latin typeface="Trebuchet MS"/>
              </a:rPr>
              <a:t>→ Empfänger der Firma wählen, prüfen, versenden.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8698" y="4617720"/>
            <a:ext cx="3454298" cy="1645920"/>
          </a:xfrm>
          <a:prstGeom prst="roundRect">
            <a:avLst>
              <a:gd name="adj" fmla="val 8000"/>
            </a:avLst>
          </a:prstGeom>
          <a:solidFill>
            <a:srgbClr val="FB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68698" y="4617720"/>
            <a:ext cx="82296" cy="1645920"/>
          </a:xfrm>
          <a:prstGeom prst="rect">
            <a:avLst/>
          </a:prstGeom>
          <a:solidFill>
            <a:srgbClr val="8A4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4730" y="4709160"/>
            <a:ext cx="308853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50" b="1">
                <a:solidFill>
                  <a:srgbClr val="8A4B12"/>
                </a:solidFill>
                <a:latin typeface="Trebuchet MS"/>
              </a:rPr>
              <a:t>Karte oder bar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4730" y="5029200"/>
            <a:ext cx="30885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2A2824"/>
                </a:solidFill>
                <a:latin typeface="Trebuchet MS"/>
              </a:rPr>
              <a:t>Der Gast hat selbst bezahlt. Die Rechnung gehört ihm, nicht der Firma.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24730" y="5623560"/>
            <a:ext cx="308853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2A2824"/>
                </a:solidFill>
                <a:latin typeface="Trebuchet MS"/>
              </a:rPr>
              <a:t>→ </a:t>
            </a:r>
            <a:r>
              <a:rPr sz="1250" b="1">
                <a:solidFill>
                  <a:srgbClr val="2A2824"/>
                </a:solidFill>
                <a:latin typeface="Trebuchet MS"/>
              </a:rPr>
              <a:t>Zurücklegen.</a:t>
            </a:r>
            <a:r>
              <a:rPr sz="1250" b="0">
                <a:solidFill>
                  <a:srgbClr val="2A2824"/>
                </a:solidFill>
                <a:latin typeface="Trebuchet MS"/>
              </a:rPr>
              <a:t> Keine XRechnung an die Firma.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7316" y="4617720"/>
            <a:ext cx="3454298" cy="1645920"/>
          </a:xfrm>
          <a:prstGeom prst="roundRect">
            <a:avLst>
              <a:gd name="adj" fmla="val 8000"/>
            </a:avLst>
          </a:prstGeom>
          <a:solidFill>
            <a:srgbClr val="E2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97316" y="4617720"/>
            <a:ext cx="82296" cy="1645920"/>
          </a:xfrm>
          <a:prstGeom prst="rect">
            <a:avLst/>
          </a:prstGeom>
          <a:solidFill>
            <a:srgbClr val="2E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3348" y="4709160"/>
            <a:ext cx="308853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50" b="1">
                <a:solidFill>
                  <a:srgbClr val="2E4F7A"/>
                </a:solidFill>
                <a:latin typeface="Trebuchet MS"/>
              </a:rPr>
              <a:t>Unsicher?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3348" y="5029200"/>
            <a:ext cx="30885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2A2824"/>
                </a:solidFill>
                <a:latin typeface="Trebuchet MS"/>
              </a:rPr>
              <a:t>Lieber einmal fragen als falsch verschicken.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3348" y="5623560"/>
            <a:ext cx="308853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2A2824"/>
                </a:solidFill>
                <a:latin typeface="Trebuchet MS"/>
              </a:rPr>
              <a:t>→ Liegen lassen, Buchhaltung fragen. Geht nicht automatisch hinaus.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D9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745B2F"/>
                </a:solidFill>
                <a:latin typeface="Trebuchet MS"/>
              </a:rPr>
              <a:t>SONDERFALL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Georgia"/>
              </a:rPr>
              <a:t>Eine geprüfte Rechnung freigeben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7A746C"/>
                </a:solidFill>
                <a:latin typeface="Trebuchet MS"/>
              </a:rPr>
              <a:t>XRechnung · Anleitung für den Alltag · Stand 16.09.2026 · Bilder mit Musterdaten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7A746C"/>
                </a:solidFill>
                <a:latin typeface="Trebuchet MS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030" y="1398270"/>
            <a:ext cx="7733127" cy="2141220"/>
          </a:xfrm>
          <a:prstGeom prst="rect">
            <a:avLst/>
          </a:prstGeom>
          <a:solidFill>
            <a:srgbClr val="D8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3b_freigeb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7695027" cy="2103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5568" y="3703320"/>
            <a:ext cx="5285232" cy="4773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0">
                <a:solidFill>
                  <a:srgbClr val="2A2824"/>
                </a:solidFill>
                <a:latin typeface="Trebuchet MS"/>
              </a:rPr>
              <a:t>Erst den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Empfänger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 wählen und übernehmen (weiter unten auf der Seite).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326940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345228"/>
            <a:ext cx="5285232" cy="4773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2A2824"/>
                </a:solidFill>
                <a:latin typeface="Trebuchet MS"/>
              </a:rPr>
              <a:t>„Prüfung abgeschlossen“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 gibt die Rechnung frei — ab dann darf die Automatik sie verschicken.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968848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987136"/>
            <a:ext cx="5285232" cy="4773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0">
                <a:solidFill>
                  <a:srgbClr val="2A2824"/>
                </a:solidFill>
                <a:latin typeface="Trebuchet MS"/>
              </a:rPr>
              <a:t>Oder Sie schicken sie gleich selbst: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„Jetzt versenden“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6560" y="3657600"/>
            <a:ext cx="4785055" cy="1143000"/>
          </a:xfrm>
          <a:prstGeom prst="roundRect">
            <a:avLst>
              <a:gd name="adj" fmla="val 8000"/>
            </a:avLst>
          </a:prstGeom>
          <a:solidFill>
            <a:srgbClr val="FB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6560" y="3657600"/>
            <a:ext cx="82296" cy="1143000"/>
          </a:xfrm>
          <a:prstGeom prst="rect">
            <a:avLst/>
          </a:prstGeom>
          <a:solidFill>
            <a:srgbClr val="8A4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22592" y="3767328"/>
            <a:ext cx="4419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8A4B12"/>
                </a:solidFill>
                <a:latin typeface="Trebuchet MS"/>
              </a:rPr>
              <a:t>HINWEIS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2592" y="4023360"/>
            <a:ext cx="43735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Eine Adresse zu wählen ist </a:t>
            </a:r>
            <a:r>
              <a:rPr sz="1350" b="1">
                <a:solidFill>
                  <a:srgbClr val="2A2824"/>
                </a:solidFill>
                <a:latin typeface="Trebuchet MS"/>
              </a:rPr>
              <a:t>keine</a:t>
            </a:r>
            <a:r>
              <a:rPr sz="1350" b="0">
                <a:solidFill>
                  <a:srgbClr val="2A2824"/>
                </a:solidFill>
                <a:latin typeface="Trebuchet MS"/>
              </a:rPr>
              <a:t> Freigabe. Sonst ginge eine Rechnung hinaus, während Sie noch prüfen, wem sie gehört.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66560" y="4937760"/>
            <a:ext cx="4785055" cy="1143000"/>
          </a:xfrm>
          <a:prstGeom prst="roundRect">
            <a:avLst>
              <a:gd name="adj" fmla="val 8000"/>
            </a:avLst>
          </a:prstGeom>
          <a:solidFill>
            <a:srgbClr val="E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66560" y="4937760"/>
            <a:ext cx="82296" cy="1143000"/>
          </a:xfrm>
          <a:prstGeom prst="rect">
            <a:avLst/>
          </a:prstGeom>
          <a:solidFill>
            <a:srgbClr val="1F5C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22592" y="5047488"/>
            <a:ext cx="4419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F5C3D"/>
                </a:solidFill>
                <a:latin typeface="Trebuchet MS"/>
              </a:rPr>
              <a:t>TIPP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22592" y="5303520"/>
            <a:ext cx="43735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Gehört die Rechnung doch dem Gast? Dann </a:t>
            </a:r>
            <a:r>
              <a:rPr sz="1350" b="1">
                <a:solidFill>
                  <a:srgbClr val="2A2824"/>
                </a:solidFill>
                <a:latin typeface="Trebuchet MS"/>
              </a:rPr>
              <a:t>„Zurücklegen“</a:t>
            </a:r>
            <a:r>
              <a:rPr sz="1350" b="0">
                <a:solidFill>
                  <a:srgbClr val="2A2824"/>
                </a:solidFill>
                <a:latin typeface="Trebuchet MS"/>
              </a:rPr>
              <a:t>. Versehentlich zurückgelegt: </a:t>
            </a:r>
            <a:r>
              <a:rPr sz="1350" b="1">
                <a:solidFill>
                  <a:srgbClr val="2A2824"/>
                </a:solidFill>
                <a:latin typeface="Trebuchet MS"/>
              </a:rPr>
              <a:t>„Wieder aufnehmen“</a:t>
            </a:r>
            <a:r>
              <a:rPr sz="1350" b="0">
                <a:solidFill>
                  <a:srgbClr val="2A2824"/>
                </a:solidFill>
                <a:latin typeface="Trebuchet MS"/>
              </a:rPr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D9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745B2F"/>
                </a:solidFill>
                <a:latin typeface="Trebuchet MS"/>
              </a:rPr>
              <a:t>SONDERFALL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Georgia"/>
              </a:rPr>
              <a:t>Beim Kunden ist keine E-Mail-Adresse hinterlegt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7A746C"/>
                </a:solidFill>
                <a:latin typeface="Trebuchet MS"/>
              </a:rPr>
              <a:t>XRechnung · Anleitung für den Alltag · Stand 16.09.2026 · Bilder mit Musterdaten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7A746C"/>
                </a:solidFill>
                <a:latin typeface="Trebuchet MS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101590" y="1398270"/>
            <a:ext cx="5093778" cy="1866900"/>
          </a:xfrm>
          <a:prstGeom prst="rect">
            <a:avLst/>
          </a:prstGeom>
          <a:solidFill>
            <a:srgbClr val="D8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4_keine_adres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17320"/>
            <a:ext cx="5055678" cy="1828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101590" y="3547110"/>
            <a:ext cx="4025304" cy="630792"/>
          </a:xfrm>
          <a:prstGeom prst="rect">
            <a:avLst/>
          </a:prstGeom>
          <a:solidFill>
            <a:srgbClr val="D8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14b_ohne_adresse_knop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3566160"/>
            <a:ext cx="3987204" cy="592692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640080" y="1444752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1463040"/>
            <a:ext cx="3685032" cy="6912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2A2824"/>
                </a:solidFill>
                <a:latin typeface="Trebuchet MS"/>
              </a:rPr>
              <a:t>Ohne Adresse lässt sich die Rechnung </a:t>
            </a:r>
            <a:r>
              <a:rPr sz="1400" b="1">
                <a:solidFill>
                  <a:srgbClr val="2A2824"/>
                </a:solidFill>
                <a:latin typeface="Trebuchet MS"/>
              </a:rPr>
              <a:t>nicht verschicken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. Sie bleibt in </a:t>
            </a:r>
            <a:r>
              <a:rPr sz="1400" b="1">
                <a:solidFill>
                  <a:srgbClr val="2A2824"/>
                </a:solidFill>
                <a:latin typeface="Trebuchet MS"/>
              </a:rPr>
              <a:t>Prüfung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 liegen.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2300630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318918"/>
            <a:ext cx="3685032" cy="6912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2A2824"/>
                </a:solidFill>
                <a:latin typeface="Trebuchet MS"/>
              </a:rPr>
              <a:t>Schnell: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 Adresse von Hand eintragen (Kunde anrufen oder aus einer Mail) und übernehmen.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3174796"/>
            <a:ext cx="3685032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2A2824"/>
                </a:solidFill>
                <a:latin typeface="Trebuchet MS"/>
              </a:rPr>
              <a:t>Dauerhaft: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 Adresse in OPERA am Kundenprofil eintragen und danach </a:t>
            </a:r>
            <a:r>
              <a:rPr sz="1400" b="1">
                <a:solidFill>
                  <a:srgbClr val="2A2824"/>
                </a:solidFill>
                <a:latin typeface="Trebuchet MS"/>
              </a:rPr>
              <a:t>„Jetzt einlesen“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 — dann findet das Programm sie auch bei allen weiteren Rechnungen.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4617720"/>
            <a:ext cx="6430975" cy="1371600"/>
          </a:xfrm>
          <a:prstGeom prst="roundRect">
            <a:avLst>
              <a:gd name="adj" fmla="val 8000"/>
            </a:avLst>
          </a:prstGeom>
          <a:solidFill>
            <a:srgbClr val="E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0" y="4617720"/>
            <a:ext cx="82296" cy="1371600"/>
          </a:xfrm>
          <a:prstGeom prst="rect">
            <a:avLst/>
          </a:prstGeom>
          <a:solidFill>
            <a:srgbClr val="1F5C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76672" y="4727448"/>
            <a:ext cx="6065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F5C3D"/>
                </a:solidFill>
                <a:latin typeface="Trebuchet MS"/>
              </a:rPr>
              <a:t>TIPP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76672" y="4983480"/>
            <a:ext cx="6019495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Der Knopf </a:t>
            </a:r>
            <a:r>
              <a:rPr sz="1350" b="1">
                <a:solidFill>
                  <a:srgbClr val="2A2824"/>
                </a:solidFill>
                <a:latin typeface="Trebuchet MS"/>
              </a:rPr>
              <a:t>„… ohne Adresse“</a:t>
            </a:r>
            <a:r>
              <a:rPr sz="1350" b="0">
                <a:solidFill>
                  <a:srgbClr val="2A2824"/>
                </a:solidFill>
                <a:latin typeface="Trebuchet MS"/>
              </a:rPr>
              <a:t> in der Liste (Bild unten rechts) lädt eine </a:t>
            </a:r>
            <a:r>
              <a:rPr sz="1350" b="1">
                <a:solidFill>
                  <a:srgbClr val="2A2824"/>
                </a:solidFill>
                <a:latin typeface="Trebuchet MS"/>
              </a:rPr>
              <a:t>Excel-Liste</a:t>
            </a:r>
            <a:r>
              <a:rPr sz="1350" b="0">
                <a:solidFill>
                  <a:srgbClr val="2A2824"/>
                </a:solidFill>
                <a:latin typeface="Trebuchet MS"/>
              </a:rPr>
              <a:t>: welche Kunden keine Adresse haben, wie viele Rechnungen daran hängen. Oben stehen die, bei denen sich die Pflege am meisten lohnt.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D9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745B2F"/>
                </a:solidFill>
                <a:latin typeface="Trebuchet MS"/>
              </a:rPr>
              <a:t>GUT ZU WISSEN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Georgia"/>
              </a:rPr>
              <a:t>Eine bestimmte Rechnung finden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7A746C"/>
                </a:solidFill>
                <a:latin typeface="Trebuchet MS"/>
              </a:rPr>
              <a:t>XRechnung · Anleitung für den Alltag · Stand 16.09.2026 · Bilder mit Musterdaten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7A746C"/>
                </a:solidFill>
                <a:latin typeface="Trebuchet MS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030" y="1398270"/>
            <a:ext cx="9366474" cy="2415540"/>
          </a:xfrm>
          <a:prstGeom prst="rect">
            <a:avLst/>
          </a:prstGeom>
          <a:solidFill>
            <a:srgbClr val="D8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5_suc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9328374" cy="237744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40080" y="4050792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4069080"/>
            <a:ext cx="5193792" cy="4773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2A2824"/>
                </a:solidFill>
                <a:latin typeface="Trebuchet MS"/>
              </a:rPr>
              <a:t>Rechnungsnummer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 in das Suchfeld eintragen und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„Suchen“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 klicken.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692700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710988"/>
            <a:ext cx="5193792" cy="7159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0">
                <a:solidFill>
                  <a:srgbClr val="2A2824"/>
                </a:solidFill>
                <a:latin typeface="Trebuchet MS"/>
              </a:rPr>
              <a:t>Steht die Rechnung noch nicht in der Liste, zeigt das Programm sie unter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„In OPERA gefunden“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.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„In die Liste holen“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 nimmt sie auf.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023360"/>
            <a:ext cx="4876495" cy="1143000"/>
          </a:xfrm>
          <a:prstGeom prst="roundRect">
            <a:avLst>
              <a:gd name="adj" fmla="val 8000"/>
            </a:avLst>
          </a:prstGeom>
          <a:solidFill>
            <a:srgbClr val="FB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023360"/>
            <a:ext cx="82296" cy="1143000"/>
          </a:xfrm>
          <a:prstGeom prst="rect">
            <a:avLst/>
          </a:prstGeom>
          <a:solidFill>
            <a:srgbClr val="8A4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133088"/>
            <a:ext cx="4510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8A4B12"/>
                </a:solidFill>
                <a:latin typeface="Trebuchet MS"/>
              </a:rPr>
              <a:t>HINWEIS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1152" y="4389120"/>
            <a:ext cx="44650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In OPERA sucht das Programm </a:t>
            </a:r>
            <a:r>
              <a:rPr sz="1350" b="1">
                <a:solidFill>
                  <a:srgbClr val="2A2824"/>
                </a:solidFill>
                <a:latin typeface="Trebuchet MS"/>
              </a:rPr>
              <a:t>nur nach Nummern</a:t>
            </a:r>
            <a:r>
              <a:rPr sz="1350" b="0">
                <a:solidFill>
                  <a:srgbClr val="2A2824"/>
                </a:solidFill>
                <a:latin typeface="Trebuchet MS"/>
              </a:rPr>
              <a:t>, nicht nach Namen. Namen findet es in der Liste.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5303520"/>
            <a:ext cx="4876495" cy="914400"/>
          </a:xfrm>
          <a:prstGeom prst="roundRect">
            <a:avLst>
              <a:gd name="adj" fmla="val 8000"/>
            </a:avLst>
          </a:prstGeom>
          <a:solidFill>
            <a:srgbClr val="FB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75120" y="5303520"/>
            <a:ext cx="82296" cy="914400"/>
          </a:xfrm>
          <a:prstGeom prst="rect">
            <a:avLst/>
          </a:prstGeom>
          <a:solidFill>
            <a:srgbClr val="8A4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31152" y="5413248"/>
            <a:ext cx="4510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8A4B12"/>
                </a:solidFill>
                <a:latin typeface="Trebuchet MS"/>
              </a:rPr>
              <a:t>HINWEIS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31152" y="5669280"/>
            <a:ext cx="44650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Eine so geholte Rechnung kommt erst in </a:t>
            </a:r>
            <a:r>
              <a:rPr sz="1350" b="1">
                <a:solidFill>
                  <a:srgbClr val="2A2824"/>
                </a:solidFill>
                <a:latin typeface="Trebuchet MS"/>
              </a:rPr>
              <a:t>Prüfung</a:t>
            </a:r>
            <a:r>
              <a:rPr sz="1350" b="0">
                <a:solidFill>
                  <a:srgbClr val="2A2824"/>
                </a:solidFill>
                <a:latin typeface="Trebuchet MS"/>
              </a:rPr>
              <a:t> — mit dem Grund dabei.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D9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745B2F"/>
                </a:solidFill>
                <a:latin typeface="Trebuchet MS"/>
              </a:rPr>
              <a:t>GUT ZU WISSEN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Georgia"/>
              </a:rPr>
              <a:t>Eine Rechnung ist schon verschickt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7A746C"/>
                </a:solidFill>
                <a:latin typeface="Trebuchet MS"/>
              </a:rPr>
              <a:t>XRechnung · Anleitung für den Alltag · Stand 16.09.2026 · Bilder mit Musterdaten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7A746C"/>
                </a:solidFill>
                <a:latin typeface="Trebuchet MS"/>
              </a:rP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030" y="1398270"/>
            <a:ext cx="10949635" cy="1833956"/>
          </a:xfrm>
          <a:prstGeom prst="rect">
            <a:avLst/>
          </a:prstGeom>
          <a:solidFill>
            <a:srgbClr val="D8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6_versend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10911535" cy="179585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40080" y="3502152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520440"/>
            <a:ext cx="5193792" cy="7159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0">
                <a:solidFill>
                  <a:srgbClr val="2A2824"/>
                </a:solidFill>
                <a:latin typeface="Trebuchet MS"/>
              </a:rPr>
              <a:t>Statt „XML erzeugen“ steht dort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„Trotzdem neu erzeugen“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.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Nicht drücken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 — außer die IT sagt es.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382719"/>
            <a:ext cx="329184" cy="329184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401007"/>
            <a:ext cx="5193792" cy="4773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2A2824"/>
                </a:solidFill>
                <a:latin typeface="Trebuchet MS"/>
              </a:rPr>
              <a:t>„Jetzt versenden“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 ist grau. Eine Rechnung geht nie zweimal hinaus.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5042915"/>
            <a:ext cx="5193792" cy="7159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0">
                <a:solidFill>
                  <a:srgbClr val="2A2824"/>
                </a:solidFill>
                <a:latin typeface="Trebuchet MS"/>
              </a:rPr>
              <a:t>Fragt der Kunde nach: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„XML ansehen“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 zeigt genau die Datei, die er bekommen hat. Im Verlauf unten steht,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an welche Adresse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 und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wann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0" y="3474720"/>
            <a:ext cx="4876495" cy="1371600"/>
          </a:xfrm>
          <a:prstGeom prst="roundRect">
            <a:avLst>
              <a:gd name="adj" fmla="val 8000"/>
            </a:avLst>
          </a:prstGeom>
          <a:solidFill>
            <a:srgbClr val="FB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75120" y="3474720"/>
            <a:ext cx="82296" cy="1371600"/>
          </a:xfrm>
          <a:prstGeom prst="rect">
            <a:avLst/>
          </a:prstGeom>
          <a:solidFill>
            <a:srgbClr val="8A4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3584448"/>
            <a:ext cx="4510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8A4B12"/>
                </a:solidFill>
                <a:latin typeface="Trebuchet MS"/>
              </a:rPr>
              <a:t>HINWEIS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31152" y="3840480"/>
            <a:ext cx="4465015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Die Tabelle </a:t>
            </a:r>
            <a:r>
              <a:rPr sz="1350" b="1">
                <a:solidFill>
                  <a:srgbClr val="2A2824"/>
                </a:solidFill>
                <a:latin typeface="Trebuchet MS"/>
              </a:rPr>
              <a:t>„Positionen“</a:t>
            </a:r>
            <a:r>
              <a:rPr sz="1350" b="0">
                <a:solidFill>
                  <a:srgbClr val="2A2824"/>
                </a:solidFill>
                <a:latin typeface="Trebuchet MS"/>
              </a:rPr>
              <a:t> einer versendeten Rechnung wird neu berechnet und kann anders aussehen als die verschickte Datei. Maßgeblich ist, was </a:t>
            </a:r>
            <a:r>
              <a:rPr sz="1350" b="1">
                <a:solidFill>
                  <a:srgbClr val="2A2824"/>
                </a:solidFill>
                <a:latin typeface="Trebuchet MS"/>
              </a:rPr>
              <a:t>„XML ansehen“</a:t>
            </a:r>
            <a:r>
              <a:rPr sz="1350" b="0">
                <a:solidFill>
                  <a:srgbClr val="2A2824"/>
                </a:solidFill>
                <a:latin typeface="Trebuchet MS"/>
              </a:rPr>
              <a:t> zeigt.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D9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745B2F"/>
                </a:solidFill>
                <a:latin typeface="Trebuchet MS"/>
              </a:rPr>
              <a:t>GUT ZU WISSEN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Georgia"/>
              </a:rPr>
              <a:t>Zurücklegen und Nachvollziehen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7A746C"/>
                </a:solidFill>
                <a:latin typeface="Trebuchet MS"/>
              </a:rPr>
              <a:t>XRechnung · Anleitung für den Alltag · Stand 16.09.2026 · Bilder mit Musterdaten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7A746C"/>
                </a:solidFill>
                <a:latin typeface="Trebuchet MS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000" b="0">
                <a:solidFill>
                  <a:srgbClr val="1A1A1A"/>
                </a:solidFill>
                <a:latin typeface="Georgia"/>
              </a:rPr>
              <a:t>Zurücklegen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7452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0">
                <a:solidFill>
                  <a:srgbClr val="2A2824"/>
                </a:solidFill>
                <a:latin typeface="Trebuchet MS"/>
              </a:rPr>
              <a:t>Nimmt eine Rechnung aus dem Lauf. Sie wird </a:t>
            </a:r>
            <a:r>
              <a:rPr sz="1450" b="1">
                <a:solidFill>
                  <a:srgbClr val="2A2824"/>
                </a:solidFill>
                <a:latin typeface="Trebuchet MS"/>
              </a:rPr>
              <a:t>nicht</a:t>
            </a:r>
            <a:r>
              <a:rPr sz="1450" b="0">
                <a:solidFill>
                  <a:srgbClr val="2A2824"/>
                </a:solidFill>
                <a:latin typeface="Trebuchet MS"/>
              </a:rPr>
              <a:t> verschickt, weder von Hand noch automatisch.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0">
                <a:solidFill>
                  <a:srgbClr val="2A2824"/>
                </a:solidFill>
                <a:latin typeface="Trebuchet MS"/>
              </a:rPr>
              <a:t>Sinnvoll, wenn der Gast selbst bezahlt hat oder die Rechnung gar keine Firmenrechnung ist.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337560"/>
            <a:ext cx="5120640" cy="1143000"/>
          </a:xfrm>
          <a:prstGeom prst="roundRect">
            <a:avLst>
              <a:gd name="adj" fmla="val 8000"/>
            </a:avLst>
          </a:prstGeom>
          <a:solidFill>
            <a:srgbClr val="F8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82296" cy="1143000"/>
          </a:xfrm>
          <a:prstGeom prst="rect">
            <a:avLst/>
          </a:prstGeom>
          <a:solidFill>
            <a:srgbClr val="A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44728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A02020"/>
                </a:solidFill>
                <a:latin typeface="Trebuchet MS"/>
              </a:rPr>
              <a:t>ACHTUNG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703320"/>
            <a:ext cx="4709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>
                <a:solidFill>
                  <a:srgbClr val="2A2824"/>
                </a:solidFill>
                <a:latin typeface="Trebuchet MS"/>
              </a:rPr>
              <a:t>Aus Versehen zurückgelegt? </a:t>
            </a:r>
            <a:r>
              <a:rPr sz="1350" b="1">
                <a:solidFill>
                  <a:srgbClr val="2A2824"/>
                </a:solidFill>
                <a:latin typeface="Trebuchet MS"/>
              </a:rPr>
              <a:t>„Wieder aufnehmen“</a:t>
            </a:r>
            <a:r>
              <a:rPr sz="1350" b="0">
                <a:solidFill>
                  <a:srgbClr val="2A2824"/>
                </a:solidFill>
                <a:latin typeface="Trebuchet MS"/>
              </a:rPr>
              <a:t> holt die Rechnung zurück — sie landet dann in der Prüfung, nicht im Versand.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417320"/>
            <a:ext cx="5425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000" b="0">
                <a:solidFill>
                  <a:srgbClr val="1A1A1A"/>
                </a:solidFill>
                <a:latin typeface="Georgia"/>
              </a:rPr>
              <a:t>Wer hat was gemacht?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07430" y="1901190"/>
            <a:ext cx="5463235" cy="1620431"/>
          </a:xfrm>
          <a:prstGeom prst="rect">
            <a:avLst/>
          </a:prstGeom>
          <a:solidFill>
            <a:srgbClr val="D8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17_protoko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920240"/>
            <a:ext cx="5425135" cy="158233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26480" y="4480560"/>
            <a:ext cx="54251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2A2824"/>
                </a:solidFill>
                <a:latin typeface="Trebuchet MS"/>
              </a:rPr>
              <a:t>Oben im Menü unter </a:t>
            </a:r>
            <a:r>
              <a:rPr sz="1400" b="1">
                <a:solidFill>
                  <a:srgbClr val="2A2824"/>
                </a:solidFill>
                <a:latin typeface="Trebuchet MS"/>
              </a:rPr>
              <a:t>„Protokoll“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 (1) steht jede Aktion mit Zeit und Benutzer — auch, an welche Adresse verschickt wurde. In jeder Rechnung steht unten derselbe </a:t>
            </a:r>
            <a:r>
              <a:rPr sz="1400" b="1">
                <a:solidFill>
                  <a:srgbClr val="2A2824"/>
                </a:solidFill>
                <a:latin typeface="Trebuchet MS"/>
              </a:rPr>
              <a:t>Verlauf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 nur für diese Rechnung.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D9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745B2F"/>
                </a:solidFill>
                <a:latin typeface="Trebuchet MS"/>
              </a:rPr>
              <a:t>HÄUFIGE FRAGEN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Georgia"/>
              </a:rPr>
              <a:t>Fragen, die oft kommen (1/3)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7A746C"/>
                </a:solidFill>
                <a:latin typeface="Trebuchet MS"/>
              </a:rPr>
              <a:t>XRechnung · Anleitung für den Alltag · Stand 16.09.2026 · Bilder mit Musterdaten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7A746C"/>
                </a:solidFill>
                <a:latin typeface="Trebuchet MS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5295747" cy="1609344"/>
          </a:xfrm>
          <a:prstGeom prst="roundRect">
            <a:avLst>
              <a:gd name="adj" fmla="val 8000"/>
            </a:avLst>
          </a:prstGeom>
          <a:solidFill>
            <a:srgbClr val="E2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17320"/>
            <a:ext cx="82296" cy="1609344"/>
          </a:xfrm>
          <a:prstGeom prst="rect">
            <a:avLst/>
          </a:prstGeom>
          <a:solidFill>
            <a:srgbClr val="2E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527048"/>
            <a:ext cx="49116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2E4F7A"/>
                </a:solidFill>
                <a:latin typeface="Trebuchet MS"/>
              </a:rPr>
              <a:t>? Warum steht eine Rechnung nicht in der Liste?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828800"/>
            <a:ext cx="4911699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300" b="0">
                <a:solidFill>
                  <a:srgbClr val="2A2824"/>
                </a:solidFill>
                <a:latin typeface="Trebuchet MS"/>
              </a:rPr>
              <a:t>Aufgenommen werden nur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abgeschlossene Firmenrechnungen an Kunden in Deutschland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 aus dem eingestellten Zeitraum. Suchen Sie nach der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Rechnungsnummer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 — findet das Programm sie in OPERA, holen Sie sie mit „In die Liste holen“.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5867" y="1417320"/>
            <a:ext cx="5295747" cy="1837943"/>
          </a:xfrm>
          <a:prstGeom prst="roundRect">
            <a:avLst>
              <a:gd name="adj" fmla="val 8000"/>
            </a:avLst>
          </a:prstGeom>
          <a:solidFill>
            <a:srgbClr val="E2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5867" y="1417320"/>
            <a:ext cx="82296" cy="1837943"/>
          </a:xfrm>
          <a:prstGeom prst="rect">
            <a:avLst/>
          </a:prstGeom>
          <a:solidFill>
            <a:srgbClr val="2E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1899" y="1527048"/>
            <a:ext cx="491169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2E4F7A"/>
                </a:solidFill>
                <a:latin typeface="Trebuchet MS"/>
              </a:rPr>
              <a:t>? Warum wurde eine Rechnung nicht automatisch verschickt?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1899" y="2057400"/>
            <a:ext cx="4911699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300" b="0">
                <a:solidFill>
                  <a:srgbClr val="2A2824"/>
                </a:solidFill>
                <a:latin typeface="Trebuchet MS"/>
              </a:rPr>
              <a:t>Mögliche Gründe: Status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Prüfung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 oder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Fehler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 ·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kein Empfänger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 gewählt · die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Wartezeit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 läuft noch · Automatik ist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aus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 oder im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Testlauf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 · Rechnungen über das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Debitorenkonto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 gehen in der Grundeinstellung nur von Hand hinaus.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54680"/>
            <a:ext cx="5295747" cy="1380744"/>
          </a:xfrm>
          <a:prstGeom prst="roundRect">
            <a:avLst>
              <a:gd name="adj" fmla="val 8000"/>
            </a:avLst>
          </a:prstGeom>
          <a:solidFill>
            <a:srgbClr val="E2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154680"/>
            <a:ext cx="82296" cy="1380744"/>
          </a:xfrm>
          <a:prstGeom prst="rect">
            <a:avLst/>
          </a:prstGeom>
          <a:solidFill>
            <a:srgbClr val="2E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3264408"/>
            <a:ext cx="49116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2E4F7A"/>
                </a:solidFill>
                <a:latin typeface="Trebuchet MS"/>
              </a:rPr>
              <a:t>? Ich kann nicht auf „Jetzt versenden“ klicken.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3566160"/>
            <a:ext cx="49116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300" b="0">
                <a:solidFill>
                  <a:srgbClr val="2A2824"/>
                </a:solidFill>
                <a:latin typeface="Trebuchet MS"/>
              </a:rPr>
              <a:t>Der Knopf ist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grau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, wenn kein Empfänger gewählt ist, die Prüfung rot ist oder die Rechnung schon verschickt oder zurückgelegt wurde.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Fehlt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 der Knopf ganz, hat Ihr Zugang die Rolle „ansehen“ — fragen Sie die 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5867" y="3383279"/>
            <a:ext cx="5295747" cy="1380744"/>
          </a:xfrm>
          <a:prstGeom prst="roundRect">
            <a:avLst>
              <a:gd name="adj" fmla="val 8000"/>
            </a:avLst>
          </a:prstGeom>
          <a:solidFill>
            <a:srgbClr val="E2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55867" y="3383279"/>
            <a:ext cx="82296" cy="1380744"/>
          </a:xfrm>
          <a:prstGeom prst="rect">
            <a:avLst/>
          </a:prstGeom>
          <a:solidFill>
            <a:srgbClr val="2E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1899" y="3493007"/>
            <a:ext cx="49116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2E4F7A"/>
                </a:solidFill>
                <a:latin typeface="Trebuchet MS"/>
              </a:rPr>
              <a:t>? Der Kunde sagt, er hat nichts bekommen.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1899" y="3794759"/>
            <a:ext cx="49116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300" b="0">
                <a:solidFill>
                  <a:srgbClr val="2A2824"/>
                </a:solidFill>
                <a:latin typeface="Trebuchet MS"/>
              </a:rPr>
              <a:t>Rechnung öffnen: Steht der Status auf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Gesendet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? Der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Verlauf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 zeigt Adresse und Uhrzeit. Bitten Sie den Kunden, im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Spam-Ordner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 nachzusehen. Stand oben „Testlauf“, ging nichts hinaus. Sonst: Rechnungsnummer an die 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663440"/>
            <a:ext cx="5295747" cy="1152144"/>
          </a:xfrm>
          <a:prstGeom prst="roundRect">
            <a:avLst>
              <a:gd name="adj" fmla="val 8000"/>
            </a:avLst>
          </a:prstGeom>
          <a:solidFill>
            <a:srgbClr val="E2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4663440"/>
            <a:ext cx="82296" cy="1152144"/>
          </a:xfrm>
          <a:prstGeom prst="rect">
            <a:avLst/>
          </a:prstGeom>
          <a:solidFill>
            <a:srgbClr val="2E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4773168"/>
            <a:ext cx="49116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2E4F7A"/>
                </a:solidFill>
                <a:latin typeface="Trebuchet MS"/>
              </a:rPr>
              <a:t>? Ich habe an die falsche Adresse verschickt.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" y="5074920"/>
            <a:ext cx="49116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300" b="0">
                <a:solidFill>
                  <a:srgbClr val="2A2824"/>
                </a:solidFill>
                <a:latin typeface="Trebuchet MS"/>
              </a:rPr>
              <a:t>Im Programm lässt sich das nicht rückgängig machen oder neu verschicken. Geben Sie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sofort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 Rechnungsnummer und die richtige Adresse an die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D9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745B2F"/>
                </a:solidFill>
                <a:latin typeface="Trebuchet MS"/>
              </a:rPr>
              <a:t>HÄUFIGE FRAGEN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Georgia"/>
              </a:rPr>
              <a:t>Fragen, die oft kommen (2/3)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7A746C"/>
                </a:solidFill>
                <a:latin typeface="Trebuchet MS"/>
              </a:rPr>
              <a:t>XRechnung · Anleitung für den Alltag · Stand 16.09.2026 · Bilder mit Musterdaten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7A746C"/>
                </a:solidFill>
                <a:latin typeface="Trebuchet MS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5295747" cy="1609344"/>
          </a:xfrm>
          <a:prstGeom prst="roundRect">
            <a:avLst>
              <a:gd name="adj" fmla="val 8000"/>
            </a:avLst>
          </a:prstGeom>
          <a:solidFill>
            <a:srgbClr val="E2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17320"/>
            <a:ext cx="82296" cy="1609344"/>
          </a:xfrm>
          <a:prstGeom prst="rect">
            <a:avLst/>
          </a:prstGeom>
          <a:solidFill>
            <a:srgbClr val="2E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527048"/>
            <a:ext cx="491169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2E4F7A"/>
                </a:solidFill>
                <a:latin typeface="Trebuchet MS"/>
              </a:rPr>
              <a:t>? Der Kunde möchte seine Bestellnummer auf der Rechnung.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057400"/>
            <a:ext cx="49116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300" b="0">
                <a:solidFill>
                  <a:srgbClr val="2A2824"/>
                </a:solidFill>
                <a:latin typeface="Trebuchet MS"/>
              </a:rPr>
              <a:t>Noch nicht verschickt: in der Rechnung unter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Käuferreferenz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 eintragen. Schon verschickt: an die IT. Für die Zukunft: Empfang trägt sie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vor dem Check-out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 in „Buyer Reference1“ ein.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5867" y="1417320"/>
            <a:ext cx="5295747" cy="1152144"/>
          </a:xfrm>
          <a:prstGeom prst="roundRect">
            <a:avLst>
              <a:gd name="adj" fmla="val 8000"/>
            </a:avLst>
          </a:prstGeom>
          <a:solidFill>
            <a:srgbClr val="E2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5867" y="1417320"/>
            <a:ext cx="82296" cy="1152144"/>
          </a:xfrm>
          <a:prstGeom prst="rect">
            <a:avLst/>
          </a:prstGeom>
          <a:solidFill>
            <a:srgbClr val="2E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1899" y="1527048"/>
            <a:ext cx="49116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2E4F7A"/>
                </a:solidFill>
                <a:latin typeface="Trebuchet MS"/>
              </a:rPr>
              <a:t>? Der Betrag stimmt nicht.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1899" y="1828800"/>
            <a:ext cx="49116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300" b="0">
                <a:solidFill>
                  <a:srgbClr val="2A2824"/>
                </a:solidFill>
                <a:latin typeface="Trebuchet MS"/>
              </a:rPr>
              <a:t>Das Programm übernimmt die Beträge aus OPERA, es rechnet nichts um. Die Rechnung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in OPERA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 korrigieren lassen. Die falsche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nicht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 versenden, sondern zurücklegen.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5867" y="2697480"/>
            <a:ext cx="5295747" cy="1380744"/>
          </a:xfrm>
          <a:prstGeom prst="roundRect">
            <a:avLst>
              <a:gd name="adj" fmla="val 8000"/>
            </a:avLst>
          </a:prstGeom>
          <a:solidFill>
            <a:srgbClr val="E2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55867" y="2697480"/>
            <a:ext cx="82296" cy="1380744"/>
          </a:xfrm>
          <a:prstGeom prst="rect">
            <a:avLst/>
          </a:prstGeom>
          <a:solidFill>
            <a:srgbClr val="2E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1899" y="2807208"/>
            <a:ext cx="49116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2E4F7A"/>
                </a:solidFill>
                <a:latin typeface="Trebuchet MS"/>
              </a:rPr>
              <a:t>? Bei einer Gruppe fehlen die Namen der Gäste.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1899" y="3108960"/>
            <a:ext cx="49116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300" b="0">
                <a:solidFill>
                  <a:srgbClr val="2A2824"/>
                </a:solidFill>
                <a:latin typeface="Trebuchet MS"/>
              </a:rPr>
              <a:t>Unter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„Positionen“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 die Art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„Je Gast und Zimmer“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 wählen und „Übernehmen“. Das Programm wählt sie normalerweise selbst, sobald mehrere Reservierungen auf der Rechnung sind.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154680"/>
            <a:ext cx="5295747" cy="1152144"/>
          </a:xfrm>
          <a:prstGeom prst="roundRect">
            <a:avLst>
              <a:gd name="adj" fmla="val 8000"/>
            </a:avLst>
          </a:prstGeom>
          <a:solidFill>
            <a:srgbClr val="E2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3154680"/>
            <a:ext cx="82296" cy="1152144"/>
          </a:xfrm>
          <a:prstGeom prst="rect">
            <a:avLst/>
          </a:prstGeom>
          <a:solidFill>
            <a:srgbClr val="2E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3264408"/>
            <a:ext cx="49116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2E4F7A"/>
                </a:solidFill>
                <a:latin typeface="Trebuchet MS"/>
              </a:rPr>
              <a:t>? Muss ich zusätzlich ein PDF schicken?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3566160"/>
            <a:ext cx="49116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300" b="0">
                <a:solidFill>
                  <a:srgbClr val="2A2824"/>
                </a:solidFill>
                <a:latin typeface="Trebuchet MS"/>
              </a:rPr>
              <a:t>Die E-Mail enthält die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XML-Datei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 — das ist die Rechnung. Ein PDF hängt derzeit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nicht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 mit. Möchte der Kunde eines, schicken Sie es wie gewohnt aus OPERA.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5867" y="4206240"/>
            <a:ext cx="5295747" cy="1380744"/>
          </a:xfrm>
          <a:prstGeom prst="roundRect">
            <a:avLst>
              <a:gd name="adj" fmla="val 8000"/>
            </a:avLst>
          </a:prstGeom>
          <a:solidFill>
            <a:srgbClr val="E2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5867" y="4206240"/>
            <a:ext cx="82296" cy="1380744"/>
          </a:xfrm>
          <a:prstGeom prst="rect">
            <a:avLst/>
          </a:prstGeom>
          <a:solidFill>
            <a:srgbClr val="2E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1899" y="4315968"/>
            <a:ext cx="491169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2E4F7A"/>
                </a:solidFill>
                <a:latin typeface="Trebuchet MS"/>
              </a:rPr>
              <a:t>? Oben steht „Automatik arbeitet“, die Knöpfe sind grau.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1899" y="4846320"/>
            <a:ext cx="49116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300" b="0">
                <a:solidFill>
                  <a:srgbClr val="2A2824"/>
                </a:solidFill>
                <a:latin typeface="Trebuchet MS"/>
              </a:rPr>
              <a:t>Dann läuft gerade ein automatischer Durchlauf; er dauert meist Sekunden. Kurz warten und die Seite neu laden — danach sind Einlesen und Versenden wieder frei.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D9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745B2F"/>
                </a:solidFill>
                <a:latin typeface="Trebuchet MS"/>
              </a:rPr>
              <a:t>HÄUFIGE FRAGEN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Georgia"/>
              </a:rPr>
              <a:t>Fragen, die oft kommen (3/3)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7A746C"/>
                </a:solidFill>
                <a:latin typeface="Trebuchet MS"/>
              </a:rPr>
              <a:t>XRechnung · Anleitung für den Alltag · Stand 16.09.2026 · Bilder mit Musterdaten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7A746C"/>
                </a:solidFill>
                <a:latin typeface="Trebuchet MS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5295747" cy="1380744"/>
          </a:xfrm>
          <a:prstGeom prst="roundRect">
            <a:avLst>
              <a:gd name="adj" fmla="val 8000"/>
            </a:avLst>
          </a:prstGeom>
          <a:solidFill>
            <a:srgbClr val="E2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17320"/>
            <a:ext cx="82296" cy="1380744"/>
          </a:xfrm>
          <a:prstGeom prst="rect">
            <a:avLst/>
          </a:prstGeom>
          <a:solidFill>
            <a:srgbClr val="2E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527048"/>
            <a:ext cx="49116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2E4F7A"/>
                </a:solidFill>
                <a:latin typeface="Trebuchet MS"/>
              </a:rPr>
              <a:t>? Was heißt „Ersatzwert“ bei der Käuferreferenz?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828800"/>
            <a:ext cx="49116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300" b="0">
                <a:solidFill>
                  <a:srgbClr val="2A2824"/>
                </a:solidFill>
                <a:latin typeface="Trebuchet MS"/>
              </a:rPr>
              <a:t>Der Kunde hat keine Bestellnummer hinterlegt, deshalb steht dort unsere Reservierungsnummer. Für Firmen ist das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in Ordnung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. Für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Behörden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 nicht — die brauchen eine Leitweg-ID: bitte an die Buchhaltung.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5867" y="1417320"/>
            <a:ext cx="5295747" cy="923544"/>
          </a:xfrm>
          <a:prstGeom prst="roundRect">
            <a:avLst>
              <a:gd name="adj" fmla="val 8000"/>
            </a:avLst>
          </a:prstGeom>
          <a:solidFill>
            <a:srgbClr val="E2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5867" y="1417320"/>
            <a:ext cx="82296" cy="923544"/>
          </a:xfrm>
          <a:prstGeom prst="rect">
            <a:avLst/>
          </a:prstGeom>
          <a:solidFill>
            <a:srgbClr val="2E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1899" y="1527048"/>
            <a:ext cx="49116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2E4F7A"/>
                </a:solidFill>
                <a:latin typeface="Trebuchet MS"/>
              </a:rPr>
              <a:t>? Die XML-Datei sieht unleserlich aus.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1899" y="1828800"/>
            <a:ext cx="49116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300" b="0">
                <a:solidFill>
                  <a:srgbClr val="2A2824"/>
                </a:solidFill>
                <a:latin typeface="Trebuchet MS"/>
              </a:rPr>
              <a:t>Das ist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richtig so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. Die Datei ist für das Buchhaltungsprogramm des Kunden gemacht, nicht zum Lesen.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5867" y="2468880"/>
            <a:ext cx="5295747" cy="1152144"/>
          </a:xfrm>
          <a:prstGeom prst="roundRect">
            <a:avLst>
              <a:gd name="adj" fmla="val 8000"/>
            </a:avLst>
          </a:prstGeom>
          <a:solidFill>
            <a:srgbClr val="E2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55867" y="2468880"/>
            <a:ext cx="82296" cy="1152144"/>
          </a:xfrm>
          <a:prstGeom prst="rect">
            <a:avLst/>
          </a:prstGeom>
          <a:solidFill>
            <a:srgbClr val="2E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1899" y="2578608"/>
            <a:ext cx="49116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2E4F7A"/>
                </a:solidFill>
                <a:latin typeface="Trebuchet MS"/>
              </a:rPr>
              <a:t>? Kann ich etwas kaputt machen?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1899" y="2880360"/>
            <a:ext cx="49116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300" b="0">
                <a:solidFill>
                  <a:srgbClr val="2A2824"/>
                </a:solidFill>
                <a:latin typeface="Trebuchet MS"/>
              </a:rPr>
              <a:t>In OPERA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nein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 — das Programm liest dort nur. „XML erzeugen“ und „Jetzt einlesen“ sind immer harmlos. Endgültig sind nur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Versenden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 und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Zurücklegen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2926080"/>
            <a:ext cx="5295747" cy="1152144"/>
          </a:xfrm>
          <a:prstGeom prst="roundRect">
            <a:avLst>
              <a:gd name="adj" fmla="val 8000"/>
            </a:avLst>
          </a:prstGeom>
          <a:solidFill>
            <a:srgbClr val="E2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2926080"/>
            <a:ext cx="82296" cy="1152144"/>
          </a:xfrm>
          <a:prstGeom prst="rect">
            <a:avLst/>
          </a:prstGeom>
          <a:solidFill>
            <a:srgbClr val="2E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3035808"/>
            <a:ext cx="49116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2E4F7A"/>
                </a:solidFill>
                <a:latin typeface="Trebuchet MS"/>
              </a:rPr>
              <a:t>? Oben steht „Testlauf“. Was heißt das?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3337560"/>
            <a:ext cx="49116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300" b="0">
                <a:solidFill>
                  <a:srgbClr val="2A2824"/>
                </a:solidFill>
                <a:latin typeface="Trebuchet MS"/>
              </a:rPr>
              <a:t>Das Programm arbeitet im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Probebetrieb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: Es prüft alles, verschickt aber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nichts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. Die Meldung nach „Jetzt versenden“ lautet dann „Testlauf: nicht wirklich versendet“.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5867" y="3749040"/>
            <a:ext cx="5295747" cy="923544"/>
          </a:xfrm>
          <a:prstGeom prst="roundRect">
            <a:avLst>
              <a:gd name="adj" fmla="val 8000"/>
            </a:avLst>
          </a:prstGeom>
          <a:solidFill>
            <a:srgbClr val="E2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5867" y="3749040"/>
            <a:ext cx="82296" cy="923544"/>
          </a:xfrm>
          <a:prstGeom prst="rect">
            <a:avLst/>
          </a:prstGeom>
          <a:solidFill>
            <a:srgbClr val="2E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1899" y="3858768"/>
            <a:ext cx="49116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2E4F7A"/>
                </a:solidFill>
                <a:latin typeface="Trebuchet MS"/>
              </a:rPr>
              <a:t>? Ich sehe „Konfiguration“ im Menü.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1899" y="4160520"/>
            <a:ext cx="49116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300" b="0">
                <a:solidFill>
                  <a:srgbClr val="2A2824"/>
                </a:solidFill>
                <a:latin typeface="Trebuchet MS"/>
              </a:rPr>
              <a:t>Das ist für die IT. Bitte dort </a:t>
            </a:r>
            <a:r>
              <a:rPr sz="1300" b="1">
                <a:solidFill>
                  <a:srgbClr val="2A2824"/>
                </a:solidFill>
                <a:latin typeface="Trebuchet MS"/>
              </a:rPr>
              <a:t>nichts ändern</a:t>
            </a:r>
            <a:r>
              <a:rPr sz="1300" b="0">
                <a:solidFill>
                  <a:srgbClr val="2A2824"/>
                </a:solidFill>
                <a:latin typeface="Trebuchet MS"/>
              </a:rPr>
              <a:t> — Einstellungen wirken auf alle Rechnungen.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D9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745B2F"/>
                </a:solidFill>
                <a:latin typeface="Trebuchet MS"/>
              </a:rPr>
              <a:t>ZUM AUSDRUCKEN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Georgia"/>
              </a:rPr>
              <a:t>Spickzettel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7A746C"/>
                </a:solidFill>
                <a:latin typeface="Trebuchet MS"/>
              </a:rPr>
              <a:t>XRechnung · Anleitung für den Alltag · Stand 16.09.2026 · Bilder mit Musterdaten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7A746C"/>
                </a:solidFill>
                <a:latin typeface="Trebuchet MS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329184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45B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490472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2A2824"/>
                </a:solidFill>
                <a:latin typeface="Trebuchet MS"/>
              </a:rPr>
              <a:t>1.  Anmelden, Liste öffnen — Reiter </a:t>
            </a:r>
            <a:r>
              <a:rPr sz="1500" b="1">
                <a:solidFill>
                  <a:srgbClr val="2A2824"/>
                </a:solidFill>
                <a:latin typeface="Trebuchet MS"/>
              </a:rPr>
              <a:t>Prüfung</a:t>
            </a:r>
            <a:r>
              <a:rPr sz="1500" b="0">
                <a:solidFill>
                  <a:srgbClr val="2A2824"/>
                </a:solidFill>
                <a:latin typeface="Trebuchet MS"/>
              </a:rPr>
              <a:t> und </a:t>
            </a:r>
            <a:r>
              <a:rPr sz="1500" b="1">
                <a:solidFill>
                  <a:srgbClr val="2A2824"/>
                </a:solidFill>
                <a:latin typeface="Trebuchet MS"/>
              </a:rPr>
              <a:t>Fehler</a:t>
            </a:r>
            <a:r>
              <a:rPr sz="1500" b="0">
                <a:solidFill>
                  <a:srgbClr val="2A2824"/>
                </a:solidFill>
                <a:latin typeface="Trebuchet MS"/>
              </a:rPr>
              <a:t> zuerst ansehen.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7510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45B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002536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2A2824"/>
                </a:solidFill>
                <a:latin typeface="Trebuchet MS"/>
              </a:rPr>
              <a:t>2.  „Firma an der Reservierung“? → auf </a:t>
            </a:r>
            <a:r>
              <a:rPr sz="1500" b="1">
                <a:solidFill>
                  <a:srgbClr val="2A2824"/>
                </a:solidFill>
                <a:latin typeface="Trebuchet MS"/>
              </a:rPr>
              <a:t>„Bezahlt über“</a:t>
            </a:r>
            <a:r>
              <a:rPr sz="1500" b="0">
                <a:solidFill>
                  <a:srgbClr val="2A2824"/>
                </a:solidFill>
                <a:latin typeface="Trebuchet MS"/>
              </a:rPr>
              <a:t> schauen.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87168"/>
            <a:ext cx="329184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45B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251460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2A2824"/>
                </a:solidFill>
                <a:latin typeface="Trebuchet MS"/>
              </a:rPr>
              <a:t>3.  </a:t>
            </a:r>
            <a:r>
              <a:rPr sz="1500" b="1">
                <a:solidFill>
                  <a:srgbClr val="2A2824"/>
                </a:solidFill>
                <a:latin typeface="Trebuchet MS"/>
              </a:rPr>
              <a:t>Empfänger</a:t>
            </a:r>
            <a:r>
              <a:rPr sz="1500" b="0">
                <a:solidFill>
                  <a:srgbClr val="2A2824"/>
                </a:solidFill>
                <a:latin typeface="Trebuchet MS"/>
              </a:rPr>
              <a:t> prüfen, </a:t>
            </a:r>
            <a:r>
              <a:rPr sz="1500" b="1">
                <a:solidFill>
                  <a:srgbClr val="2A2824"/>
                </a:solidFill>
                <a:latin typeface="Trebuchet MS"/>
              </a:rPr>
              <a:t>„Empfänger übernehmen“</a:t>
            </a:r>
            <a:r>
              <a:rPr sz="1500" b="0">
                <a:solidFill>
                  <a:srgbClr val="2A2824"/>
                </a:solidFill>
                <a:latin typeface="Trebuchet MS"/>
              </a:rPr>
              <a:t>, in Prüfung dazu </a:t>
            </a:r>
            <a:r>
              <a:rPr sz="1500" b="1">
                <a:solidFill>
                  <a:srgbClr val="2A2824"/>
                </a:solidFill>
                <a:latin typeface="Trebuchet MS"/>
              </a:rPr>
              <a:t>„Prüfung abgeschlossen“</a:t>
            </a:r>
            <a:r>
              <a:rPr sz="1500" b="0">
                <a:solidFill>
                  <a:srgbClr val="2A2824"/>
                </a:solidFill>
                <a:latin typeface="Trebuchet MS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99232"/>
            <a:ext cx="329184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45B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3026664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2A2824"/>
                </a:solidFill>
                <a:latin typeface="Trebuchet MS"/>
              </a:rPr>
              <a:t>4.  Hat der Kunde eine </a:t>
            </a:r>
            <a:r>
              <a:rPr sz="1500" b="1">
                <a:solidFill>
                  <a:srgbClr val="2A2824"/>
                </a:solidFill>
                <a:latin typeface="Trebuchet MS"/>
              </a:rPr>
              <a:t>Bestellnummer</a:t>
            </a:r>
            <a:r>
              <a:rPr sz="1500" b="0">
                <a:solidFill>
                  <a:srgbClr val="2A2824"/>
                </a:solidFill>
                <a:latin typeface="Trebuchet MS"/>
              </a:rPr>
              <a:t> genannt? → Käuferreferenz eintragen.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11296"/>
            <a:ext cx="329184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45B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538728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2A2824"/>
                </a:solidFill>
                <a:latin typeface="Trebuchet MS"/>
              </a:rPr>
              <a:t>5.  </a:t>
            </a:r>
            <a:r>
              <a:rPr sz="1500" b="1">
                <a:solidFill>
                  <a:srgbClr val="2A2824"/>
                </a:solidFill>
                <a:latin typeface="Trebuchet MS"/>
              </a:rPr>
              <a:t>„XML erzeugen“</a:t>
            </a:r>
            <a:r>
              <a:rPr sz="1500" b="0">
                <a:solidFill>
                  <a:srgbClr val="2A2824"/>
                </a:solidFill>
                <a:latin typeface="Trebuchet MS"/>
              </a:rPr>
              <a:t> — nichts Rotes? Sonst Meldung lesen.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023360"/>
            <a:ext cx="329184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45B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050792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2A2824"/>
                </a:solidFill>
                <a:latin typeface="Trebuchet MS"/>
              </a:rPr>
              <a:t>6.  </a:t>
            </a:r>
            <a:r>
              <a:rPr sz="1500" b="1">
                <a:solidFill>
                  <a:srgbClr val="2A2824"/>
                </a:solidFill>
                <a:latin typeface="Trebuchet MS"/>
              </a:rPr>
              <a:t>„Jetzt versenden“</a:t>
            </a:r>
            <a:r>
              <a:rPr sz="1500" b="0">
                <a:solidFill>
                  <a:srgbClr val="2A2824"/>
                </a:solidFill>
                <a:latin typeface="Trebuchet MS"/>
              </a:rPr>
              <a:t> — Meldung „Versendet“, Status </a:t>
            </a:r>
            <a:r>
              <a:rPr sz="1500" b="1">
                <a:solidFill>
                  <a:srgbClr val="2A2824"/>
                </a:solidFill>
                <a:latin typeface="Trebuchet MS"/>
              </a:rPr>
              <a:t>Gesendet</a:t>
            </a:r>
            <a:r>
              <a:rPr sz="1500" b="0">
                <a:solidFill>
                  <a:srgbClr val="2A2824"/>
                </a:solidFill>
                <a:latin typeface="Trebuchet MS"/>
              </a:rPr>
              <a:t>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53542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45B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562856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2A2824"/>
                </a:solidFill>
                <a:latin typeface="Trebuchet MS"/>
              </a:rPr>
              <a:t>7.  Gast hat selbst bezahlt oder Nullbeleg? → </a:t>
            </a:r>
            <a:r>
              <a:rPr sz="1500" b="1">
                <a:solidFill>
                  <a:srgbClr val="2A2824"/>
                </a:solidFill>
                <a:latin typeface="Trebuchet MS"/>
              </a:rPr>
              <a:t>Zurücklegen</a:t>
            </a:r>
            <a:r>
              <a:rPr sz="1500" b="0">
                <a:solidFill>
                  <a:srgbClr val="2A2824"/>
                </a:solidFill>
                <a:latin typeface="Trebuchet MS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047488"/>
            <a:ext cx="329184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45B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07492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2A2824"/>
                </a:solidFill>
                <a:latin typeface="Trebuchet MS"/>
              </a:rPr>
              <a:t>8.  Beträge falsch? → </a:t>
            </a:r>
            <a:r>
              <a:rPr sz="1500" b="1">
                <a:solidFill>
                  <a:srgbClr val="2A2824"/>
                </a:solidFill>
                <a:latin typeface="Trebuchet MS"/>
              </a:rPr>
              <a:t>In OPERA</a:t>
            </a:r>
            <a:r>
              <a:rPr sz="1500" b="0">
                <a:solidFill>
                  <a:srgbClr val="2A2824"/>
                </a:solidFill>
                <a:latin typeface="Trebuchet MS"/>
              </a:rPr>
              <a:t> korrigieren, nicht hier.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75320" y="1417320"/>
            <a:ext cx="3276295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49640" y="1645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000" b="0">
                <a:solidFill>
                  <a:srgbClr val="1A1A1A"/>
                </a:solidFill>
                <a:latin typeface="Georgia"/>
              </a:rPr>
              <a:t>Bei Fragen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2194560"/>
            <a:ext cx="272765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2A2824"/>
                </a:solidFill>
                <a:latin typeface="Trebuchet MS"/>
              </a:rPr>
              <a:t>Buchhaltung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 — Beträge, Empfänger, Behörden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2A2824"/>
                </a:solidFill>
                <a:latin typeface="Trebuchet MS"/>
              </a:rPr>
              <a:t>______________________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2A2824"/>
                </a:solidFill>
                <a:latin typeface="Trebuchet MS"/>
              </a:rPr>
              <a:t>IT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 — Zugang, Fehlermeldungen, versehentlich verschickt oder zurückgelegt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2A2824"/>
                </a:solidFill>
                <a:latin typeface="Trebuchet MS"/>
              </a:rPr>
              <a:t>______________________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2A2824"/>
                </a:solidFill>
                <a:latin typeface="Trebuchet MS"/>
              </a:rPr>
              <a:t>Immer die </a:t>
            </a:r>
            <a:r>
              <a:rPr sz="1400" b="1">
                <a:solidFill>
                  <a:srgbClr val="2A2824"/>
                </a:solidFill>
                <a:latin typeface="Trebuchet MS"/>
              </a:rPr>
              <a:t>Rechnungsnummer</a:t>
            </a:r>
            <a:r>
              <a:rPr sz="1400" b="0">
                <a:solidFill>
                  <a:srgbClr val="2A2824"/>
                </a:solidFill>
                <a:latin typeface="Trebuchet MS"/>
              </a:rPr>
              <a:t> mitschicken.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394960"/>
            <a:ext cx="7269480" cy="896112"/>
          </a:xfrm>
          <a:prstGeom prst="roundRect">
            <a:avLst>
              <a:gd name="adj" fmla="val 8000"/>
            </a:avLst>
          </a:prstGeom>
          <a:solidFill>
            <a:srgbClr val="E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394960"/>
            <a:ext cx="82296" cy="896112"/>
          </a:xfrm>
          <a:prstGeom prst="rect">
            <a:avLst/>
          </a:prstGeom>
          <a:solidFill>
            <a:srgbClr val="1F5C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5504688"/>
            <a:ext cx="6903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F5C3D"/>
                </a:solidFill>
                <a:latin typeface="Trebuchet MS"/>
              </a:rPr>
              <a:t>TIPP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5760720"/>
            <a:ext cx="6858000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0">
                <a:solidFill>
                  <a:srgbClr val="2A2824"/>
                </a:solidFill>
                <a:latin typeface="Trebuchet MS"/>
              </a:rPr>
              <a:t>Harmlos und beliebig oft: „Jetzt einlesen“, „XML erzeugen“, „XML ansehen“. Endgültig: „Jetzt versenden“, „Zurücklegen“.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
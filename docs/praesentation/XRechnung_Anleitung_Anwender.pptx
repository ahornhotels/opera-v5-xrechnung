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AD9260"/>
                </a:solidFill>
                <a:latin typeface="Trebuchet MS"/>
              </a:rPr>
              <a:t>ANLEITUNG FÜR DEN ALLTAG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0">
                <a:solidFill>
                  <a:srgbClr val="FFFFFF"/>
                </a:solidFill>
                <a:latin typeface="Georgia"/>
              </a:rPr>
              <a:t>XRechnung verschicken —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0">
                <a:solidFill>
                  <a:srgbClr val="FFFFFF"/>
                </a:solidFill>
                <a:latin typeface="Georgia"/>
              </a:rPr>
              <a:t>Schritt für Schritt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DDD8D0"/>
                </a:solidFill>
                <a:latin typeface="Trebuchet MS"/>
              </a:rPr>
              <a:t>Für alle, die Firmenrechnungen aus OPERA als XRechnung an Kunden schicken.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DDD8D0"/>
                </a:solidFill>
                <a:latin typeface="Trebuchet MS"/>
              </a:rPr>
              <a:t>Ohne Technik, ohne Einstellungen — nur das, was Sie jeden Tag brauchen.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257800"/>
            <a:ext cx="822960" cy="31750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8A29A"/>
                </a:solidFill>
                <a:latin typeface="Trebuchet MS"/>
              </a:rPr>
              <a:t>Stand 30.10.2026 · Alle Bildschirmfotos zeigen erfundene Musterdaten, keine echten Kunden oder Gäste.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EINFÜHRUNG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Worum geht 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381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Georgia"/>
              </a:rPr>
              <a:t>Firmen wollen Rechnungen als Datei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Firmenkunden und Behörden bekommen ihre Rechnung zusätzlich als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XRechnung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— eine Datei, die ihr Buchhaltungsprogramm selbst einliest. Das ist Pflicht.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1508760"/>
            <a:ext cx="342381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58258" y="1737360"/>
            <a:ext cx="457200" cy="4572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233172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Georgia"/>
              </a:rPr>
              <a:t>Das Programm erledigt die Arbeit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315468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Es holt die fertigen Rechnungen aus OPERA, baut die Datei,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prüft sie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und verschickt sie per E-Mail. Sie schauen drauf und drücken auf „Versenden“.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508760"/>
            <a:ext cx="3423818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02116" y="1737360"/>
            <a:ext cx="457200" cy="4572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33172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900" b="0">
                <a:solidFill>
                  <a:srgbClr val="1A1A1A"/>
                </a:solidFill>
                <a:latin typeface="Georgia"/>
              </a:rPr>
              <a:t>OPERA bleibt, wie es 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3154680"/>
            <a:ext cx="287517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Das Programm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liest nur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. Es kann in OPERA nichts ändern, verschieben oder löschen. Beträge korrigieren Sie wie immer in OPERA.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82296" cy="9144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3675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623560"/>
            <a:ext cx="105000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Die XRechnung ist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dieselbe Rechnung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wie in OPERA, nur als Datei. Es entsteht keine zweite Rechnung und keine zweite Forderung — das steht auch so in der E-Mail an den Kunden.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ÜBERBLICK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Ihr Weg in sechs Schritten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62808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D9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9804" y="1920240"/>
            <a:ext cx="548640" cy="54864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06040"/>
            <a:ext cx="14817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Trebuchet MS"/>
              </a:rPr>
              <a:t>Anmelden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46120"/>
            <a:ext cx="14817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7A746C"/>
                </a:solidFill>
                <a:latin typeface="Trebuchet MS"/>
              </a:rPr>
              <a:t>im Browser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95601" y="2651760"/>
            <a:ext cx="173736" cy="274320"/>
          </a:xfrm>
          <a:prstGeom prst="rightArrow">
            <a:avLst/>
          </a:prstGeom>
          <a:solidFill>
            <a:srgbClr val="AD9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96769" y="1737360"/>
            <a:ext cx="162808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D9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6493" y="1920240"/>
            <a:ext cx="548640" cy="54864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921" y="2606040"/>
            <a:ext cx="14817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Trebuchet MS"/>
              </a:rPr>
              <a:t>Liste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921" y="3246120"/>
            <a:ext cx="14817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7A746C"/>
                </a:solidFill>
                <a:latin typeface="Trebuchet MS"/>
              </a:rPr>
              <a:t>Was ist neu?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52290" y="2651760"/>
            <a:ext cx="173736" cy="274320"/>
          </a:xfrm>
          <a:prstGeom prst="rightArrow">
            <a:avLst/>
          </a:prstGeom>
          <a:solidFill>
            <a:srgbClr val="AD9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3458" y="1737360"/>
            <a:ext cx="162808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D9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93182" y="1920240"/>
            <a:ext cx="548640" cy="54864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6610" y="2606040"/>
            <a:ext cx="14817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Trebuchet MS"/>
              </a:rPr>
              <a:t>Öffnen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6610" y="3246120"/>
            <a:ext cx="14817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7A746C"/>
                </a:solidFill>
                <a:latin typeface="Trebuchet MS"/>
              </a:rPr>
              <a:t>Klick auf die Nummer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08979" y="2651760"/>
            <a:ext cx="173736" cy="274320"/>
          </a:xfrm>
          <a:prstGeom prst="rightArrow">
            <a:avLst/>
          </a:prstGeom>
          <a:solidFill>
            <a:srgbClr val="AD9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0147" y="1737360"/>
            <a:ext cx="162808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D9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49872" y="1920240"/>
            <a:ext cx="548640" cy="54864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3299" y="2606040"/>
            <a:ext cx="14817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Trebuchet MS"/>
              </a:rPr>
              <a:t>Empfänger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3299" y="3246120"/>
            <a:ext cx="14817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7A746C"/>
                </a:solidFill>
                <a:latin typeface="Trebuchet MS"/>
              </a:rPr>
              <a:t>stimmt die Adresse?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65668" y="2651760"/>
            <a:ext cx="173736" cy="274320"/>
          </a:xfrm>
          <a:prstGeom prst="rightArrow">
            <a:avLst/>
          </a:prstGeom>
          <a:solidFill>
            <a:srgbClr val="AD9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66836" y="1737360"/>
            <a:ext cx="162808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D9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06561" y="1920240"/>
            <a:ext cx="548640" cy="54864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9988" y="2606040"/>
            <a:ext cx="14817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Trebuchet MS"/>
              </a:rPr>
              <a:t>Prüfen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9988" y="3246120"/>
            <a:ext cx="14817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7A746C"/>
                </a:solidFill>
                <a:latin typeface="Trebuchet MS"/>
              </a:rPr>
              <a:t>„XML erzeugen“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722357" y="2651760"/>
            <a:ext cx="173736" cy="274320"/>
          </a:xfrm>
          <a:prstGeom prst="rightArrow">
            <a:avLst/>
          </a:prstGeom>
          <a:solidFill>
            <a:srgbClr val="AD9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23525" y="1737360"/>
            <a:ext cx="162808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D9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63250" y="1920240"/>
            <a:ext cx="548640" cy="54864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6677" y="2606040"/>
            <a:ext cx="14817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A1A1A"/>
                </a:solidFill>
                <a:latin typeface="Trebuchet MS"/>
              </a:rPr>
              <a:t>Versenden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6677" y="3246120"/>
            <a:ext cx="148178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7A746C"/>
                </a:solidFill>
                <a:latin typeface="Trebuchet MS"/>
              </a:rPr>
              <a:t>„Jetzt versenden“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2A2824"/>
                </a:solidFill>
                <a:latin typeface="Trebuchet MS"/>
              </a:rPr>
              <a:t>Die meisten Rechnungen sind in einer Minute erledigt. Die Folien danach erklären jeden Schritt und die Sonderfälle.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754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4754880"/>
            <a:ext cx="82296" cy="9144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8646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12064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Die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roten Ziffern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in den Bildern gehören zu den Ziffern im Text daneben.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754880"/>
            <a:ext cx="5333695" cy="11430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754880"/>
            <a:ext cx="82296" cy="11430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4864608"/>
            <a:ext cx="4967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5120640"/>
            <a:ext cx="4922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Versenden, Empfänger wählen und Zurücklegen geht nur mit der Rolle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„verwalten“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. Sehen Sie diese Knöpfe nicht, fehlt Ihnen das Recht.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Anmelden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0310" y="1398270"/>
            <a:ext cx="4973914" cy="397002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anme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4935814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1463040"/>
            <a:ext cx="3685032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Öffnen Sie im Browser die Adresse, die Sie von der IT bekommen haben. Am besten als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Lesezeichen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speichern.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96896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15184"/>
            <a:ext cx="368503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2A2824"/>
                </a:solidFill>
                <a:latin typeface="Trebuchet MS"/>
              </a:rPr>
              <a:t>Benutzer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eintragen.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08376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026664"/>
            <a:ext cx="368503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2A2824"/>
                </a:solidFill>
                <a:latin typeface="Trebuchet MS"/>
              </a:rPr>
              <a:t>Passwort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eintragen.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19856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38144"/>
            <a:ext cx="3685032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Auf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„Anmelden“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klicken.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86784"/>
            <a:ext cx="4160520" cy="16002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86784"/>
            <a:ext cx="82296" cy="16002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96512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352544"/>
            <a:ext cx="3749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Nach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8 Stunden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meldet das Programm Sie ab — dann einfach neu anmelden.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Nach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5 falschen Passwörtern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ist der Zugang kurz gesperrt. Warten Sie etwas, bevor Sie es erneut versuchen.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440680"/>
            <a:ext cx="5242255" cy="9144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5440680"/>
            <a:ext cx="82296" cy="9144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5550408"/>
            <a:ext cx="48764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5806440"/>
            <a:ext cx="4830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Passwort vergessen? Wer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verwalten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darf, setzt es unter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„Benutzer“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neu — sonst die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Die Liste: alle Rechnungen auf einen Blick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2950" y="1398270"/>
            <a:ext cx="7017715" cy="3527907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li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320"/>
            <a:ext cx="6979615" cy="348980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63040"/>
            <a:ext cx="318211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Jetzt einlesen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holt neue Rechnungen aus OPERA.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070201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8489"/>
            <a:ext cx="318211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Reiter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filtern nach Status. Die Zahl zeigt, wie viele es sind.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69565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13938"/>
            <a:ext cx="318211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Suchen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nach Nummer, Kunde oder E-Mail-Adresse.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321099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339387"/>
            <a:ext cx="318211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Rechnungsnummer anklicken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öffnet die Rechnung.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946548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964836"/>
            <a:ext cx="318211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Status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und darunter in Rot der Grund, wenn etwas zu tun 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81725"/>
            <a:ext cx="3657600" cy="11176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681725"/>
            <a:ext cx="82296" cy="11176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791453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047485"/>
            <a:ext cx="3246120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Auf eine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Spaltenüberschrift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klicken sortiert. Noch einmal klicken dreht die Reihenfolge 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Was bedeutet der Status — und was tue ich?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10911535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6F4F0"/>
                </a:solidFill>
                <a:latin typeface="Trebuchet MS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600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6F4F0"/>
                </a:solidFill>
                <a:latin typeface="Trebuchet MS"/>
              </a:rPr>
              <a:t>DAS HEISST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002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6F4F0"/>
                </a:solidFill>
                <a:latin typeface="Trebuchet MS"/>
              </a:rPr>
              <a:t>DAS TUN SIE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92808"/>
            <a:ext cx="1091153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2002536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EE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2A2824"/>
                </a:solidFill>
                <a:latin typeface="Trebuchet MS"/>
              </a:rPr>
              <a:t>Neu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9659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Gerade eingelesen, noch nichts entschieden.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Öffnen, Empfänger prüfen, versenden.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41448"/>
            <a:ext cx="10911535" cy="548640"/>
          </a:xfrm>
          <a:prstGeom prst="rect">
            <a:avLst/>
          </a:prstGeom>
          <a:solidFill>
            <a:srgbClr val="EE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2551176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8A4B12"/>
                </a:solidFill>
                <a:latin typeface="Trebuchet MS"/>
              </a:rPr>
              <a:t>Prüfung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5146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Hier muss ein Mensch draufschauen. Der Grund steht darunter.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5146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Grund lesen, siehe Sonderfälle. Wird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nie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automatisch verschickt.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90088"/>
            <a:ext cx="1091153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99816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F1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745B2F"/>
                </a:solidFill>
                <a:latin typeface="Trebuchet MS"/>
              </a:rPr>
              <a:t>Bereit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063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Empfänger ist gewählt, die Rechnung wartet auf den Versand.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632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Prüfen und versenden — oder die Automatik abwarten.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538728"/>
            <a:ext cx="10911535" cy="548640"/>
          </a:xfrm>
          <a:prstGeom prst="rect">
            <a:avLst/>
          </a:prstGeom>
          <a:solidFill>
            <a:srgbClr val="EE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648456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5C3D"/>
                </a:solidFill>
                <a:latin typeface="Trebuchet MS"/>
              </a:rPr>
              <a:t>Gesendet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6118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Per E-Mail an den Kunden verschickt.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6118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Nichts. Fertig.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87368"/>
            <a:ext cx="1091153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197096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F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A02020"/>
                </a:solidFill>
                <a:latin typeface="Trebuchet MS"/>
              </a:rPr>
              <a:t>Fehler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1605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Die Prüfung hat etwas gefunden. Wird nicht verschickt.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1605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Rechnung öffnen, rote Meldung lesen, siehe Folie „Wenn es rot wird“.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636008"/>
            <a:ext cx="10911535" cy="548640"/>
          </a:xfrm>
          <a:prstGeom prst="rect">
            <a:avLst/>
          </a:prstGeom>
          <a:solidFill>
            <a:srgbClr val="EE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4745736"/>
            <a:ext cx="1417320" cy="329184"/>
          </a:xfrm>
          <a:prstGeom prst="roundRect">
            <a:avLst>
              <a:gd name="adj" fmla="val 8000"/>
            </a:avLst>
          </a:prstGeom>
          <a:solidFill>
            <a:srgbClr val="EAE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7A746C"/>
                </a:solidFill>
                <a:latin typeface="Trebuchet MS"/>
              </a:rPr>
              <a:t>Zurückgelegt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7091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Aus dem Lauf genommen, zum Beispiel ein Nullbeleg.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709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Nichts.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321808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321808"/>
            <a:ext cx="82296" cy="9144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431536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687568"/>
            <a:ext cx="105000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Oben rechts steht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„Automatik an“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oder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„aus“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. Ist sie an, verschickt das Programm Rechnungen im Status Neu oder Bereit mit Empfänger nach einer Wartezeit selbst — Rechnungen in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Prüfung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nie.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Neue Rechnungen holen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398270"/>
            <a:ext cx="10045293" cy="177546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einle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007193" cy="17373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341071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429000"/>
            <a:ext cx="519379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Auf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„Jetzt einlesen“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klicken. Das dauert ein paar Sekunden.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5262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70908"/>
            <a:ext cx="5193792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Oben erscheint,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was passiert ist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: wie viele gelesen, wie viele neu, wie viele zur Prüfung — und warum andere nicht aufgenommen wurden.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33187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951475"/>
            <a:ext cx="5193792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Der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Zeitraum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steht normalerweise richtig. Nur ändern, wenn Sie gezielt ältere Rechnungen holen sollen.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383280"/>
            <a:ext cx="4876495" cy="11430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383280"/>
            <a:ext cx="82296" cy="11430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3493008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3749040"/>
            <a:ext cx="4465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Ist die Automatik an, liest das Programm alle paar Minuten von selbst ein. Der Takt steht über der Liste.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663440"/>
            <a:ext cx="4876495" cy="1143000"/>
          </a:xfrm>
          <a:prstGeom prst="roundRect">
            <a:avLst>
              <a:gd name="adj" fmla="val 8000"/>
            </a:avLst>
          </a:prstGeom>
          <a:solidFill>
            <a:srgbClr val="F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4663440"/>
            <a:ext cx="82296" cy="1143000"/>
          </a:xfrm>
          <a:prstGeom prst="rect">
            <a:avLst/>
          </a:prstGeom>
          <a:solidFill>
            <a:srgbClr val="A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4773168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A02020"/>
                </a:solidFill>
                <a:latin typeface="Trebuchet MS"/>
              </a:rPr>
              <a:t>ACHTUNG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5029200"/>
            <a:ext cx="4465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2A2824"/>
                </a:solidFill>
                <a:latin typeface="Trebuchet MS"/>
              </a:rPr>
              <a:t>„Durchlauf starten“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verschickt sofort alle fälligen Rechnungen. Nur drücken, wenn das so abgesprochen 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GUT ZU WISSEN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Wenn die Automatik gerade arbeitet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398270"/>
            <a:ext cx="10949635" cy="1780914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9_automatik_arbeit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11535" cy="174281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363931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57600"/>
            <a:ext cx="5376672" cy="238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Oben rechts steht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„Automatik arbeitet …“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4256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60850"/>
            <a:ext cx="537667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Darunter erklärt ein Streifen, was gerade gesperrt ist.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68447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702758"/>
            <a:ext cx="537667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A2824"/>
                </a:solidFill>
                <a:latin typeface="Trebuchet MS"/>
              </a:rPr>
              <a:t>Einlesen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,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Durchlauf starten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und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Jetzt versenden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sind grau.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611880"/>
            <a:ext cx="4693615" cy="13716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3611880"/>
            <a:ext cx="82296" cy="13716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3721608"/>
            <a:ext cx="4327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3977640"/>
            <a:ext cx="428213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Das dauert meist Sekunden. Einfach die Seite neu laden — danach geht wieder alles. So kommen sich Ihr Klick und der automatische Lauf nicht in die Quere.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Die Rechnung: die vier Knöpfe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7270" y="1398270"/>
            <a:ext cx="6743395" cy="4405854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detail_ob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6705295" cy="436775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63040"/>
            <a:ext cx="3410712" cy="691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XML erzeugen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baut die Datei und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prüft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sie. Das schadet nie — erst prüfen, dann versenden.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0063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318918"/>
            <a:ext cx="3410712" cy="691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XML ansehen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öffnet die Datei. Sie sieht technisch aus; das ist normal.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56508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174796"/>
            <a:ext cx="3410712" cy="691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Jetzt versenden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schickt die Rechnung an den Empfänger. Ist der Knopf grau, fehlt noch etwas.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12386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030674"/>
            <a:ext cx="341071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Zurücklegen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nimmt die Rechnung aus dem Lauf.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47563"/>
            <a:ext cx="3886200" cy="1337733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747563"/>
            <a:ext cx="82296" cy="1337733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857291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113323"/>
            <a:ext cx="3474720" cy="926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Die Zeile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„Blindkopie geht an“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zeigt, wer im Haus eine Kopie bekommt. Darum müssen Sie sich nicht kümmern.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Wohin geht die Rechnung?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1590" y="1398270"/>
            <a:ext cx="5867713" cy="241554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empfae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5829613" cy="237744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63040"/>
            <a:ext cx="3685032" cy="11932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Das Programm zeigt alle Adressen, die in OPERA zu dieser Rechnung stehen. Die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oberste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ist meist die richtige: zuerst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„Debitorenkonto“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, dann Adressen mit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„primär“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802636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820924"/>
            <a:ext cx="36850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Steht die richtige nicht dabei: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von Hand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eintragen. Genau abtippen.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44544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462832"/>
            <a:ext cx="36850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Auf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„Empfänger übernehmen“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klicken. Der Status wird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Bereit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931920"/>
            <a:ext cx="6430975" cy="11430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3931920"/>
            <a:ext cx="82296" cy="11430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4041648"/>
            <a:ext cx="6065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4297680"/>
            <a:ext cx="6019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Stand die Rechnung in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Prüfung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, bleibt sie dort — eine Adresse zu wählen ist noch keine Freigabe. Sonst wird der Status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Bereit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, und die Automatik darf sie verschicken.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5184648"/>
            <a:ext cx="6430975" cy="11176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5184648"/>
            <a:ext cx="82296" cy="11176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5294376"/>
            <a:ext cx="6065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5550408"/>
            <a:ext cx="6019495" cy="70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Eine von Hand eingetragene Adresse gilt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nur für diese Rechnung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. Damit die nächste Rechnung sie auch hat, gehört sie in OPERA an das Kundenprofil.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4 · NUR BEI BEDARF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Bestellnummer des Kunden eintragen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1590" y="1398270"/>
            <a:ext cx="6307650" cy="296418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kaeuferrefer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626955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1417320"/>
            <a:ext cx="4160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Manche Firmen verlangen ihre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Bestellnummer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auf der Rechnung — sonst können sie sie nicht zuordnen. Das Programm nennt das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Käuferreferenz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43200"/>
            <a:ext cx="368503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Die Nummer des Kunden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von Hand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eintragen.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8328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401568"/>
            <a:ext cx="368503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Auf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„Käuferreferenz übernehmen“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klicken.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82296" cy="13716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453128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709160"/>
            <a:ext cx="3749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Steht in der Rechnung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„Ersatzwert“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, hat der Kunde keine Nummer hinterlegt. Für normale Firmen ist das in Ordnung.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526280"/>
            <a:ext cx="6430975" cy="11430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4526280"/>
            <a:ext cx="82296" cy="11430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6672" y="4636008"/>
            <a:ext cx="6065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892040"/>
            <a:ext cx="6019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Für den Empfang: Die Bestellnummer gehört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vor dem Check-out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in OPERA in das Feld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„Buyer Reference1“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der Reservierung. Dann kommt sie von selbst auf die Rechnung.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4 · MEIST NICHTS ZU TUN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Wie die Positionen auf der Rechnung stehen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992630"/>
            <a:ext cx="2938009" cy="241554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positionen_einz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2899909" cy="2377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59677" y="1398270"/>
            <a:ext cx="2838287" cy="387858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positionen_grup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417320"/>
            <a:ext cx="2800187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1417320"/>
            <a:ext cx="52728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A2824"/>
                </a:solidFill>
                <a:latin typeface="Trebuchet MS"/>
              </a:rPr>
              <a:t>Einzelrechnung: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gleiche Leistungen zum gleichen Preis stehen zusammen — „3 × Übernachtung“.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6517" y="1463040"/>
            <a:ext cx="1775097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A2824"/>
                </a:solidFill>
                <a:latin typeface="Trebuchet MS"/>
              </a:rPr>
              <a:t>Gruppe: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je Gast eine Zeile mit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Zimmer und Name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, dazu der Aufenthalt.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Das Programm erkennt selbst, ob es eine Gruppe ist (1).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9943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617720"/>
            <a:ext cx="4797399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Nur wenn der Kunde es anders möchte: andere Art wählen,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„Übernehmen“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224881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5243169"/>
            <a:ext cx="4797399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Die Tabelle zeigt danach genau das, was verschickt wird.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76517" y="3794760"/>
            <a:ext cx="1775097" cy="1337733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76517" y="3794760"/>
            <a:ext cx="82296" cy="1337733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2549" y="3904488"/>
            <a:ext cx="14093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2549" y="4160520"/>
            <a:ext cx="1363617" cy="9262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Die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Beträge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ändern sich dabei nie — nur die Darstellung.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Prüfen: „XML erzeugen“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398270"/>
            <a:ext cx="9215350" cy="214122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xml_erzeu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917725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3794760"/>
            <a:ext cx="5193792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Klicken Sie in der Rechnung auf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„XML erzeugen“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 Das Programm rechnet nach und prüft die Datei mit dem offiziellen Prüfprogramm.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657039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675327"/>
            <a:ext cx="519379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Steht oben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„XML erzeugt“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ohne weitere Hinweise: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alles in Ordnung.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98947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5317235"/>
            <a:ext cx="519379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Der Knopf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„Jetzt versenden“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ist dann dunkel und klickbar.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749039"/>
            <a:ext cx="4876495" cy="11430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3749039"/>
            <a:ext cx="82296" cy="11430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3858767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114799"/>
            <a:ext cx="4465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Sie können „XML erzeugen“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so oft drücken, wie Sie wollen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. Es verschickt nichts und ändert nichts in OPERA.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Wenn es rot wird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5990" y="1398270"/>
            <a:ext cx="2023639" cy="282702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vorpruefung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1985539" cy="27889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63040"/>
            <a:ext cx="341071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Unter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„Vorprüfung“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steht in Rot, was fehlt oder nicht passt.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08666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104948"/>
            <a:ext cx="3410712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Solange etwas rot ist, bleibt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„Jetzt versenden“ grau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 Es kann nichts Falsches hinausgehen.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61104"/>
            <a:ext cx="10911535" cy="3291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15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F6F4F0"/>
                </a:solidFill>
                <a:latin typeface="Trebuchet MS"/>
              </a:rPr>
              <a:t>STEHT DORT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315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F6F4F0"/>
                </a:solidFill>
                <a:latin typeface="Trebuchet MS"/>
              </a:rPr>
              <a:t>… DANN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90288"/>
            <a:ext cx="10911535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5429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A2824"/>
                </a:solidFill>
                <a:latin typeface="Trebuchet MS"/>
              </a:rPr>
              <a:t>… E-Mail / BT-49 fehlt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65429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A2824"/>
                </a:solidFill>
                <a:latin typeface="Trebuchet MS"/>
              </a:rPr>
              <a:t>Empfänger wählen oder von Hand eintragen.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19472"/>
            <a:ext cx="10911535" cy="329184"/>
          </a:xfrm>
          <a:prstGeom prst="rect">
            <a:avLst/>
          </a:prstGeom>
          <a:solidFill>
            <a:srgbClr val="EE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A2824"/>
                </a:solidFill>
                <a:latin typeface="Trebuchet MS"/>
              </a:rPr>
              <a:t>Ort, Land oder Name des Empfängers fehlt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9834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A2824"/>
                </a:solidFill>
                <a:latin typeface="Trebuchet MS"/>
              </a:rPr>
              <a:t>Anschrift in OPERA am Kundenprofil ergänzen, dann die Rechnung neu öffnen.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48656"/>
            <a:ext cx="10911535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1266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A2824"/>
                </a:solidFill>
                <a:latin typeface="Trebuchet MS"/>
              </a:rPr>
              <a:t>Positionen / Summe / Folio-Klammer / Steuergruppe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531266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A2824"/>
                </a:solidFill>
                <a:latin typeface="Trebuchet MS"/>
              </a:rPr>
              <a:t>Nicht selbst korrigieren — an die Buchhaltung melden.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77840"/>
            <a:ext cx="10911535" cy="329184"/>
          </a:xfrm>
          <a:prstGeom prst="rect">
            <a:avLst/>
          </a:prstGeom>
          <a:solidFill>
            <a:srgbClr val="EE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418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A2824"/>
                </a:solidFill>
                <a:latin typeface="Trebuchet MS"/>
              </a:rPr>
              <a:t>KoSIT: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64184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A2824"/>
                </a:solidFill>
                <a:latin typeface="Trebuchet MS"/>
              </a:rPr>
              <a:t>Das offizielle Prüfprogramm beanstandet etwas. Rechnungsnummer an die IT geben.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907024"/>
            <a:ext cx="10911535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710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A2824"/>
                </a:solidFill>
                <a:latin typeface="Trebuchet MS"/>
              </a:rPr>
              <a:t>Nullbeleg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59710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A2824"/>
                </a:solidFill>
                <a:latin typeface="Trebuchet MS"/>
              </a:rPr>
              <a:t>Gehört nicht in den Versand. Zurücklegen.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246120"/>
            <a:ext cx="3886200" cy="896112"/>
          </a:xfrm>
          <a:prstGeom prst="roundRect">
            <a:avLst>
              <a:gd name="adj" fmla="val 8000"/>
            </a:avLst>
          </a:prstGeom>
          <a:solidFill>
            <a:srgbClr val="F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3246120"/>
            <a:ext cx="82296" cy="896112"/>
          </a:xfrm>
          <a:prstGeom prst="rect">
            <a:avLst/>
          </a:prstGeom>
          <a:solidFill>
            <a:srgbClr val="A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335584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A02020"/>
                </a:solidFill>
                <a:latin typeface="Trebuchet MS"/>
              </a:rPr>
              <a:t>ACHTUNG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3611880"/>
            <a:ext cx="347472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Beträge werden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nie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hier korrigiert, sondern in OPERA.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SCHRITT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Versenden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1590" y="1398270"/>
            <a:ext cx="6469075" cy="1154588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testla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6430975" cy="111648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101590" y="3227070"/>
            <a:ext cx="4555236" cy="122682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b_versend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246120"/>
            <a:ext cx="4517136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1463040"/>
            <a:ext cx="368503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In der Rechnung auf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„Jetzt versenden“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klicken.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8489"/>
            <a:ext cx="3685032" cy="9217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Oben erscheint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„Versendet“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(unteres Bild). Der Status wird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Gesendet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, und im Verlauf steht, an wen und wann.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56508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174796"/>
            <a:ext cx="3685032" cy="9217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Steht dort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„Testlauf: nicht wirklich versendet“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, ist das Programm im Probebetrieb — es geht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nichts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an den Kunden.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42815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261103"/>
            <a:ext cx="3685032" cy="460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Den Probebetrieb erkennen Sie oben am Wort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„Testlauf“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709160"/>
            <a:ext cx="6430975" cy="1371600"/>
          </a:xfrm>
          <a:prstGeom prst="roundRect">
            <a:avLst>
              <a:gd name="adj" fmla="val 8000"/>
            </a:avLst>
          </a:prstGeom>
          <a:solidFill>
            <a:srgbClr val="F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4709160"/>
            <a:ext cx="82296" cy="1371600"/>
          </a:xfrm>
          <a:prstGeom prst="rect">
            <a:avLst/>
          </a:prstGeom>
          <a:solidFill>
            <a:srgbClr val="A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4818888"/>
            <a:ext cx="6065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A02020"/>
                </a:solidFill>
                <a:latin typeface="Trebuchet MS"/>
              </a:rPr>
              <a:t>ACHTUNG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5074920"/>
            <a:ext cx="60194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Versendet ist versendet. Eine verschickte Rechnung lässt sich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nicht zurückholen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und im Programm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nicht noch einmal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verschicken. Also vorher: Empfänger stimmt? Prüfung grün?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SONDERFALL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„Firma hängt an der Reservierung“ — wer bekommt die Rechnung?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827270" y="1398270"/>
            <a:ext cx="3762329" cy="273558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sichtpruef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3724229" cy="26974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463040"/>
            <a:ext cx="3410712" cy="691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Das Programm ist sich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nicht sicher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: Eine Firma hat gebucht, bezahlt hat vielleicht der Gast selbst.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30063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318918"/>
            <a:ext cx="3410712" cy="2304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Schauen Sie auf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„Bezahlt über“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713938"/>
            <a:ext cx="3410712" cy="9217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Gehört die Rechnung der Firma: Empfänger wählen, dann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„Prüfung abgeschlossen“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— oder gleich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„Jetzt versenden“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A1A1A"/>
                </a:solidFill>
                <a:latin typeface="Trebuchet MS"/>
              </a:rPr>
              <a:t>Bezahlt über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3454298" cy="164592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617720"/>
            <a:ext cx="82296" cy="164592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709160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1F5C3D"/>
                </a:solidFill>
                <a:latin typeface="Trebuchet MS"/>
              </a:rPr>
              <a:t>City Ledger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02920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2A2824"/>
                </a:solidFill>
                <a:latin typeface="Trebuchet MS"/>
              </a:rPr>
              <a:t>Die Firma zahlt über ihr Debitorenkonto.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623560"/>
            <a:ext cx="30885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2A2824"/>
                </a:solidFill>
                <a:latin typeface="Trebuchet MS"/>
              </a:rPr>
              <a:t>→ Empfänger der Firma wählen, prüfen, versenden.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617720"/>
            <a:ext cx="3454298" cy="164592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8698" y="4617720"/>
            <a:ext cx="82296" cy="164592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4730" y="4709160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8A4B12"/>
                </a:solidFill>
                <a:latin typeface="Trebuchet MS"/>
              </a:rPr>
              <a:t>Karte oder 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4730" y="502920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2A2824"/>
                </a:solidFill>
                <a:latin typeface="Trebuchet MS"/>
              </a:rPr>
              <a:t>Der Gast hat selbst bezahlt. Die Rechnung gehört ihm, nicht der Firma.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4730" y="5623560"/>
            <a:ext cx="30885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2A2824"/>
                </a:solidFill>
                <a:latin typeface="Trebuchet MS"/>
              </a:rPr>
              <a:t>→ </a:t>
            </a:r>
            <a:r>
              <a:rPr sz="1250" b="1">
                <a:solidFill>
                  <a:srgbClr val="2A2824"/>
                </a:solidFill>
                <a:latin typeface="Trebuchet MS"/>
              </a:rPr>
              <a:t>Zurücklegen.</a:t>
            </a:r>
            <a:r>
              <a:rPr sz="1250" b="0">
                <a:solidFill>
                  <a:srgbClr val="2A2824"/>
                </a:solidFill>
                <a:latin typeface="Trebuchet MS"/>
              </a:rPr>
              <a:t> Keine XRechnung an die Firma.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4617720"/>
            <a:ext cx="3454298" cy="1645920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7316" y="4617720"/>
            <a:ext cx="82296" cy="1645920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3348" y="4709160"/>
            <a:ext cx="30885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1">
                <a:solidFill>
                  <a:srgbClr val="2E4F7A"/>
                </a:solidFill>
                <a:latin typeface="Trebuchet MS"/>
              </a:rPr>
              <a:t>Unsicher?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5029200"/>
            <a:ext cx="30885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2A2824"/>
                </a:solidFill>
                <a:latin typeface="Trebuchet MS"/>
              </a:rPr>
              <a:t>Lieber einmal fragen als falsch verschicken.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348" y="5623560"/>
            <a:ext cx="308853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2A2824"/>
                </a:solidFill>
                <a:latin typeface="Trebuchet MS"/>
              </a:rPr>
              <a:t>→ Liegen lassen, Buchhaltung fragen. Geht nicht automatisch hinaus.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SONDERFALL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Eine geprüfte Rechnung freigeben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398270"/>
            <a:ext cx="7727303" cy="214122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b_freigeb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689203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3703320"/>
            <a:ext cx="52852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Erst den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Empfänger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wählen und übernehmen (weiter unten auf der Seite).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32694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345228"/>
            <a:ext cx="52852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A2824"/>
                </a:solidFill>
                <a:latin typeface="Trebuchet MS"/>
              </a:rPr>
              <a:t>„Prüfung abgeschlossen“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gibt die Rechnung frei — ab dann darf die Automatik sie verschicken.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968848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987136"/>
            <a:ext cx="52852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Oder Sie schicken sie gleich selbst: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„Jetzt versenden“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657600"/>
            <a:ext cx="4785055" cy="11430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3657600"/>
            <a:ext cx="82296" cy="11430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3767328"/>
            <a:ext cx="4419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4023360"/>
            <a:ext cx="43735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Eine Adresse zu wählen ist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keine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Freigabe. Sonst ginge eine Rechnung hinaus, während Sie noch prüfen, wem sie gehört.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937760"/>
            <a:ext cx="4785055" cy="11430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4937760"/>
            <a:ext cx="82296" cy="11430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5047488"/>
            <a:ext cx="4419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5303520"/>
            <a:ext cx="43735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Gehört die Rechnung doch dem Gast? Dann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„Zurücklegen“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. Versehentlich zurückgelegt: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„Wieder aufnehmen“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SONDERFALL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Beim Kunden ist keine E-Mail-Adresse hinterlegt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1590" y="1398270"/>
            <a:ext cx="5093778" cy="186690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_keine_adre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5055678" cy="1828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101590" y="3547110"/>
            <a:ext cx="4025304" cy="630792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4b_ohne_adresse_knop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566160"/>
            <a:ext cx="3987204" cy="59269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40080" y="144475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463040"/>
            <a:ext cx="3685032" cy="691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Ohne Adresse lässt sich die Rechnung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nicht verschicken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. Sie bleibt in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Prüfung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liegen.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30063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318918"/>
            <a:ext cx="3685032" cy="691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Schnell: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Adresse von Hand eintragen (Kunde anrufen oder aus einer Mail) und übernehmen.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174796"/>
            <a:ext cx="368503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Dauerhaft: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Adresse in OPERA am Kundenprofil eintragen und danach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„Jetzt einlesen“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— dann findet das Programm sie auch bei allen weiteren Rechnungen.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4617720"/>
            <a:ext cx="6430975" cy="13716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4617720"/>
            <a:ext cx="82296" cy="13716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4727448"/>
            <a:ext cx="6065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4983480"/>
            <a:ext cx="601949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Der Knopf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„… ohne Adresse“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in der Liste (Bild unten rechts) lädt eine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Excel-Liste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: welche Kunden keine Adresse haben, wie viele Rechnungen daran hängen. Oben stehen die, bei denen sich die Pflege am meisten lohnt.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SONDERFALL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Eine Gutschrift verschicken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398270"/>
            <a:ext cx="9201467" cy="214122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0_gutsch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9163367" cy="21031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368503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703320"/>
            <a:ext cx="52852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Gutschriften kommen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immer in Prüfung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— keine geht ohne Ihren Blick hinaus.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2694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345228"/>
            <a:ext cx="52852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Oben steht,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zu welcher Rechnung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die Gutschrift gehört, wenn das Programm sie sicher erkennt.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68848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987136"/>
            <a:ext cx="528523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Stimmt alles: Empfänger prüfen, dann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„Prüfung abgeschlossen“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— oder gleich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„Jetzt versenden“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657600"/>
            <a:ext cx="4785055" cy="13716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3657600"/>
            <a:ext cx="82296" cy="13716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3767328"/>
            <a:ext cx="4419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4023360"/>
            <a:ext cx="4373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In der Gutschrift stehen die Beträge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ohne Minus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— das ist richtig so. Dass es eine Gutschrift ist, steht in der Datei und im Betreff der Mail.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5166360"/>
            <a:ext cx="4785055" cy="1371600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5166360"/>
            <a:ext cx="82296" cy="13716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5276088"/>
            <a:ext cx="4419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5532120"/>
            <a:ext cx="4373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Steht dort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„ohne erkennbare Ursprungsrechnung“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— etwa bei einer Teilgutschrift —, fragen Sie die Buchhaltung, bevor Sie versenden.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GUT ZU WISSEN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Eine bestimmte Rechnung finden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398270"/>
            <a:ext cx="9366474" cy="2415540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_su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9328374" cy="237744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405079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069080"/>
            <a:ext cx="519379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A2824"/>
                </a:solidFill>
                <a:latin typeface="Trebuchet MS"/>
              </a:rPr>
              <a:t>Rechnungsnummer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in das Suchfeld eintragen und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„Suchen“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klicken.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92700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710988"/>
            <a:ext cx="5193792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Steht die Rechnung noch nicht in der Liste, zeigt das Programm sie unter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„In OPERA gefunden“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„In die Liste holen“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nimmt sie auf.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023360"/>
            <a:ext cx="4876495" cy="11430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023360"/>
            <a:ext cx="82296" cy="11430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133088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4389120"/>
            <a:ext cx="44650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In OPERA sucht das Programm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nur nach Nummern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, nicht nach Namen. Namen findet es in der Liste.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03520"/>
            <a:ext cx="4876495" cy="9144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5303520"/>
            <a:ext cx="82296" cy="9144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5413248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5669280"/>
            <a:ext cx="4465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Eine so geholte Rechnung kommt erst in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Prüfung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— mit dem Grund dabei.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GUT ZU WISSEN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Eine Rechnung ist schon verschickt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30" y="1398270"/>
            <a:ext cx="10949635" cy="1841534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6_versend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11535" cy="180343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3502152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20440"/>
            <a:ext cx="5193792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Statt „XML erzeugen“ steht dort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„Trotzdem neu erzeugen“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Nicht drücken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— außer die IT sagt es.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82719"/>
            <a:ext cx="329184" cy="329184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401007"/>
            <a:ext cx="5193792" cy="477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2A2824"/>
                </a:solidFill>
                <a:latin typeface="Trebuchet MS"/>
              </a:rPr>
              <a:t>„Jetzt versenden“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ist grau. Eine Rechnung geht nie zweimal hinaus.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5042915"/>
            <a:ext cx="5193792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Fragt der Kunde nach: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„XML ansehen“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zeigt genau die Datei, die er bekommen hat. Im Verlauf unten steht,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an welche Adresse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und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wann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474720"/>
            <a:ext cx="4876495" cy="13716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3474720"/>
            <a:ext cx="82296" cy="1371600"/>
          </a:xfrm>
          <a:prstGeom prst="rect">
            <a:avLst/>
          </a:prstGeom>
          <a:solidFill>
            <a:srgbClr val="8A4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3584448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8A4B12"/>
                </a:solidFill>
                <a:latin typeface="Trebuchet MS"/>
              </a:rPr>
              <a:t>HINWEIS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840480"/>
            <a:ext cx="446501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Die Tabelle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„Positionen“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einer versendeten Rechnung wird neu berechnet und kann anders aussehen als die verschickte Datei. Maßgeblich ist, was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„XML ansehen“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zeigt.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GUT ZU WISSEN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Zurücklegen und Nachvollziehen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Georgia"/>
              </a:rPr>
              <a:t>Zurücklegen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Nimmt eine Rechnung aus dem Lauf. Sie wird </a:t>
            </a:r>
            <a:r>
              <a:rPr sz="1450" b="1">
                <a:solidFill>
                  <a:srgbClr val="2A2824"/>
                </a:solidFill>
                <a:latin typeface="Trebuchet MS"/>
              </a:rPr>
              <a:t>nicht</a:t>
            </a:r>
            <a:r>
              <a:rPr sz="1450" b="0">
                <a:solidFill>
                  <a:srgbClr val="2A2824"/>
                </a:solidFill>
                <a:latin typeface="Trebuchet MS"/>
              </a:rPr>
              <a:t> verschickt, weder von Hand noch automatisch.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0">
                <a:solidFill>
                  <a:srgbClr val="2A2824"/>
                </a:solidFill>
                <a:latin typeface="Trebuchet MS"/>
              </a:rPr>
              <a:t>Sinnvoll, wenn der Gast selbst bezahlt hat oder die Rechnung gar keine Firmenrechnung 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E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82296" cy="1143000"/>
          </a:xfrm>
          <a:prstGeom prst="rect">
            <a:avLst/>
          </a:prstGeom>
          <a:solidFill>
            <a:srgbClr val="A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A02020"/>
                </a:solidFill>
                <a:latin typeface="Trebuchet MS"/>
              </a:rPr>
              <a:t>ACHTUNG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703320"/>
            <a:ext cx="4709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50" b="0">
                <a:solidFill>
                  <a:srgbClr val="2A2824"/>
                </a:solidFill>
                <a:latin typeface="Trebuchet MS"/>
              </a:rPr>
              <a:t>Aus Versehen zurückgelegt? </a:t>
            </a:r>
            <a:r>
              <a:rPr sz="1350" b="1">
                <a:solidFill>
                  <a:srgbClr val="2A2824"/>
                </a:solidFill>
                <a:latin typeface="Trebuchet MS"/>
              </a:rPr>
              <a:t>„Wieder aufnehmen“</a:t>
            </a:r>
            <a:r>
              <a:rPr sz="1350" b="0">
                <a:solidFill>
                  <a:srgbClr val="2A2824"/>
                </a:solidFill>
                <a:latin typeface="Trebuchet MS"/>
              </a:rPr>
              <a:t> holt die Rechnung zurück — sie landet dann in der Prüfung, nicht im Versand.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5425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Georgia"/>
              </a:rPr>
              <a:t>Wer hat was gemacht?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7430" y="1901190"/>
            <a:ext cx="5463235" cy="1620431"/>
          </a:xfrm>
          <a:prstGeom prst="rect">
            <a:avLst/>
          </a:prstGeom>
          <a:solidFill>
            <a:srgbClr val="D8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7_protok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5425135" cy="1582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26480" y="4480560"/>
            <a:ext cx="5425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Oben im Menü unter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„Protokoll“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(1) steht jede Aktion mit Zeit und Benutzer — auch, an welche Adresse verschickt wurde. In jeder Rechnung steht unten derselbe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Verlauf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nur für diese Rechnung.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HÄUFIGE FRAGEN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Fragen, die oft kommen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95747" cy="16093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6093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Warum steht eine Rechnung nicht in der Liste?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491169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Aufgenommen werden nur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abgeschlossene Firmenrechnungen an Kunden in Deutschland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aus dem eingestellten Zeitraum. Suchen Sie nach der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Rechnungsnummer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— findet das Programm sie in OPERA, holen Sie sie mit „In die Liste holen“.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1417320"/>
            <a:ext cx="5295747" cy="1837943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5867" y="1417320"/>
            <a:ext cx="82296" cy="1837943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1899" y="1527048"/>
            <a:ext cx="49116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Warum wurde eine Rechnung nicht automatisch verschickt?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1899" y="2057400"/>
            <a:ext cx="491169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Mögliche Gründe: Status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Prüfung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oder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Fehler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·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kein Empfänger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gewählt · die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Wartezeit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läuft noch · Automatik ist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aus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oder im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Testlauf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· Rechnungen über das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Debitorenkonto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gehen in der Grundeinstellung nur von Hand hinaus.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5295747" cy="13807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82296" cy="13807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26440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Ich kann nicht auf „Jetzt versenden“ klicken.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566160"/>
            <a:ext cx="49116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Der Knopf ist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grau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, wenn kein Empfänger gewählt ist, die Prüfung rot ist oder die Rechnung schon verschickt oder zurückgelegt wurde.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Fehlt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der Knopf ganz, hat Ihr Zugang die Rolle „ansehen“ — fragen Sie die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5867" y="3383279"/>
            <a:ext cx="5295747" cy="13807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5867" y="3383279"/>
            <a:ext cx="82296" cy="13807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1899" y="3493007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Der Kunde sagt, er hat nichts bekommen.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1899" y="3794759"/>
            <a:ext cx="49116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Rechnung öffnen: Steht der Status auf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Gesendet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? Der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Verlauf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zeigt Adresse und Uhrzeit. Bitten Sie den Kunden, im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Spam-Ordner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nachzusehen. Stand oben „Testlauf“, ging nichts hinaus. Sonst: Rechnungsnummer an die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63440"/>
            <a:ext cx="5295747" cy="11521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82296" cy="11521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7316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Ich habe an die falsche Adresse verschickt.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074920"/>
            <a:ext cx="4911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Im Programm lässt sich das nicht rückgängig machen oder neu verschicken. Geben Sie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sofort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Rechnungsnummer und die richtige Adresse an die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HÄUFIGE FRAGEN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Fragen, die oft kommen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95747" cy="16093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6093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49116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Der Kunde möchte seine Bestellnummer auf der Rechnung.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57400"/>
            <a:ext cx="49116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Noch nicht verschickt: in der Rechnung unter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Käuferreferenz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eintragen. Schon verschickt: an die IT. Für die Zukunft: Empfang trägt sie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vor dem Check-out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in „Buyer Reference1“ ein.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1417320"/>
            <a:ext cx="5295747" cy="11521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5867" y="1417320"/>
            <a:ext cx="82296" cy="11521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1899" y="152704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Der Betrag stimmt nicht.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1899" y="1828800"/>
            <a:ext cx="4911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Das Programm übernimmt die Beträge aus OPERA, es rechnet nichts um. Die Rechnung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in OPERA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korrigieren lassen. Die falsche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nicht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versenden, sondern zurücklegen.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2697480"/>
            <a:ext cx="5295747" cy="13807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2697480"/>
            <a:ext cx="82296" cy="13807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1899" y="280720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Bei einer Gruppe fehlen die Namen der Gäste.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1899" y="3108960"/>
            <a:ext cx="49116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Unter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„Positionen“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die Art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„Je Gast und Zimmer“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wählen und „Übernehmen“. Das Programm wählt sie normalerweise selbst, sobald mehrere Reservierungen auf der Rechnung sind.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54680"/>
            <a:ext cx="5295747" cy="11521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54680"/>
            <a:ext cx="82296" cy="11521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26440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Muss ich zusätzlich ein PDF schicken?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566160"/>
            <a:ext cx="4911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Die E-Mail enthält die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XML-Datei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— das ist die Rechnung. Ein PDF hängt derzeit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nicht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mit. Möchte der Kunde eines, schicken Sie es wie gewohnt aus OPERA.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4206240"/>
            <a:ext cx="5295747" cy="13807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5867" y="4206240"/>
            <a:ext cx="82296" cy="13807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1899" y="4315968"/>
            <a:ext cx="49116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Oben steht „Automatik arbeitet“, die Knöpfe sind grau.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1899" y="4846320"/>
            <a:ext cx="4911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Dann läuft gerade ein automatischer Durchlauf; er dauert meist Sekunden. Kurz warten und die Seite neu laden — danach sind Einlesen und Versenden wieder frei.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HÄUFIGE FRAGEN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Fragen, die oft kommen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95747" cy="13807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3807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Was heißt „Ersatzwert“ bei der Käuferreferenz?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49116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Der Kunde hat keine Bestellnummer hinterlegt, deshalb steht dort unsere Reservierungsnummer. Für Firmen ist das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in Ordnung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. Für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Behörden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nicht — die brauchen eine Leitweg-ID: bitte an die Buchhaltung.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1417320"/>
            <a:ext cx="5295747" cy="9235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5867" y="1417320"/>
            <a:ext cx="82296" cy="9235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1899" y="152704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Die XML-Datei sieht unleserlich aus.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1899" y="1828800"/>
            <a:ext cx="49116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Das ist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richtig so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. Die Datei ist für das Buchhaltungsprogramm des Kunden gemacht, nicht zum Lesen.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2468880"/>
            <a:ext cx="5295747" cy="11521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2468880"/>
            <a:ext cx="82296" cy="11521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1899" y="257860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Kann ich etwas kaputt machen?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1899" y="2880360"/>
            <a:ext cx="4911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In OPERA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nein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— das Programm liest dort nur. „XML erzeugen“ und „Jetzt einlesen“ sind immer harmlos. Endgültig sind nur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Versenden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und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Zurücklegen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26080"/>
            <a:ext cx="5295747" cy="11521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926080"/>
            <a:ext cx="82296" cy="11521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03580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Oben steht „Testlauf“. Was heißt das?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337560"/>
            <a:ext cx="49116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Das Programm arbeitet im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Probebetrieb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: Es prüft alles, verschickt aber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nichts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. Die Meldung nach „Jetzt versenden“ lautet dann „Testlauf: nicht wirklich versendet“.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3749040"/>
            <a:ext cx="5295747" cy="923544"/>
          </a:xfrm>
          <a:prstGeom prst="roundRect">
            <a:avLst>
              <a:gd name="adj" fmla="val 8000"/>
            </a:avLst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5867" y="3749040"/>
            <a:ext cx="82296" cy="923544"/>
          </a:xfrm>
          <a:prstGeom prst="rect">
            <a:avLst/>
          </a:prstGeom>
          <a:solidFill>
            <a:srgbClr val="2E4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1899" y="3858768"/>
            <a:ext cx="49116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2E4F7A"/>
                </a:solidFill>
                <a:latin typeface="Trebuchet MS"/>
              </a:rPr>
              <a:t>? Ich sehe „Konfiguration“ im Menü.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1899" y="4160520"/>
            <a:ext cx="49116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Das ist für die IT. Bitte dort </a:t>
            </a:r>
            <a:r>
              <a:rPr sz="1300" b="1">
                <a:solidFill>
                  <a:srgbClr val="2A2824"/>
                </a:solidFill>
                <a:latin typeface="Trebuchet MS"/>
              </a:rPr>
              <a:t>nichts ändern</a:t>
            </a:r>
            <a:r>
              <a:rPr sz="1300" b="0">
                <a:solidFill>
                  <a:srgbClr val="2A2824"/>
                </a:solidFill>
                <a:latin typeface="Trebuchet MS"/>
              </a:rPr>
              <a:t> — Einstellungen wirken auf alle Rechnungen.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D9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745B2F"/>
                </a:solidFill>
                <a:latin typeface="Trebuchet MS"/>
              </a:rPr>
              <a:t>ZUM AUSDRUCKEN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800" b="0">
                <a:solidFill>
                  <a:srgbClr val="1A1A1A"/>
                </a:solidFill>
                <a:latin typeface="Georgia"/>
              </a:rPr>
              <a:t>Spickzettel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7A746C"/>
                </a:solidFill>
                <a:latin typeface="Trebuchet MS"/>
              </a:rPr>
              <a:t>XRechnung · Anleitung für den Alltag · Stand 30.10.2026 · Bilder mit Musterdaten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7A746C"/>
                </a:solidFill>
                <a:latin typeface="Trebuchet M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490472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1.  Anmelden, Liste öffnen — Reiter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Prüfung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und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Fehler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zuerst ansehen.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7510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02536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2.  Firma an der Reservierung oder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Gutschrift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? → Hinweis oben lesen.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51460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3. 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Empfänger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übernehmen, in Prüfung dazu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„Prüfung abgeschlossen“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9923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026664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4.  Hat der Kunde eine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Bestellnummer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genannt? → Käuferreferenz eintragen.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1129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53872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5. 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„XML erzeugen“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— nichts Rotes? Sonst Meldung lesen.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6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050792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6. 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„Jetzt versenden“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— Meldung „Versendet“, Status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Gesendet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3542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562856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7.  Gast hat selbst bezahlt oder Nullbeleg? →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Zurücklegen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4748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45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2A2824"/>
                </a:solidFill>
                <a:latin typeface="Trebuchet MS"/>
              </a:rPr>
              <a:t>8.  Beträge falsch? → </a:t>
            </a:r>
            <a:r>
              <a:rPr sz="1500" b="1">
                <a:solidFill>
                  <a:srgbClr val="2A2824"/>
                </a:solidFill>
                <a:latin typeface="Trebuchet MS"/>
              </a:rPr>
              <a:t>In OPERA</a:t>
            </a:r>
            <a:r>
              <a:rPr sz="1500" b="0">
                <a:solidFill>
                  <a:srgbClr val="2A2824"/>
                </a:solidFill>
                <a:latin typeface="Trebuchet MS"/>
              </a:rPr>
              <a:t> korrigieren, nicht hier.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1417320"/>
            <a:ext cx="3276295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1645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Georgia"/>
              </a:rPr>
              <a:t>Bei Fragen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194560"/>
            <a:ext cx="27276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Buchhaltung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— Beträge, Empfänger, Behörden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______________________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2A2824"/>
                </a:solidFill>
                <a:latin typeface="Trebuchet MS"/>
              </a:rPr>
              <a:t>IT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— Zugang, Fehlermeldungen, versehentlich verschickt oder zurückgelegt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______________________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2A2824"/>
                </a:solidFill>
                <a:latin typeface="Trebuchet MS"/>
              </a:rPr>
              <a:t>Immer die </a:t>
            </a:r>
            <a:r>
              <a:rPr sz="1400" b="1">
                <a:solidFill>
                  <a:srgbClr val="2A2824"/>
                </a:solidFill>
                <a:latin typeface="Trebuchet MS"/>
              </a:rPr>
              <a:t>Rechnungsnummer</a:t>
            </a:r>
            <a:r>
              <a:rPr sz="1400" b="0">
                <a:solidFill>
                  <a:srgbClr val="2A2824"/>
                </a:solidFill>
                <a:latin typeface="Trebuchet MS"/>
              </a:rPr>
              <a:t> mitschicken.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94960"/>
            <a:ext cx="7269480" cy="896112"/>
          </a:xfrm>
          <a:prstGeom prst="roundRect">
            <a:avLst>
              <a:gd name="adj" fmla="val 8000"/>
            </a:avLst>
          </a:prstGeom>
          <a:solidFill>
            <a:srgbClr val="E3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94960"/>
            <a:ext cx="82296" cy="896112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504688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F5C3D"/>
                </a:solidFill>
                <a:latin typeface="Trebuchet MS"/>
              </a:rPr>
              <a:t>TIPP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760720"/>
            <a:ext cx="685800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>
                <a:solidFill>
                  <a:srgbClr val="2A2824"/>
                </a:solidFill>
                <a:latin typeface="Trebuchet MS"/>
              </a:rPr>
              <a:t>Harmlos und beliebig oft: „Jetzt einlesen“, „XML erzeugen“, „XML ansehen“. Endgültig: „Jetzt versenden“, „Zurücklegen“.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